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embeddedFontLst>
    <p:embeddedFont>
      <p:font typeface="MiSans" charset="-122" pitchFamily="34"/>
      <p:regular r:id="rId25"/>
    </p:embeddedFont>
    <p:embeddedFont>
      <p:font typeface="Noto Sans SC" charset="-122" pitchFamily="34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font1.fntdata"/><Relationship Id="rId2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image" Target="../media/image-3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image" Target="../media/image-3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image" Target="../media/image-3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image" Target="../media/image-3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2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image" Target="../media/image-3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s0.jpg">    </p:cNvPr>
          <p:cNvPicPr>
            <a:picLocks noChangeAspect="1"/>
          </p:cNvPicPr>
          <p:nvPr/>
        </p:nvPicPr>
        <p:blipFill>
          <a:blip r:embed="rId1"/>
          <a:srcRect l="2846" r="3013" t="2254" b="8961"/>
          <a:stretch/>
        </p:blipFill>
        <p:spPr>
          <a:xfrm rot="21600000">
            <a:off x="-2159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0585" y="1882140"/>
            <a:ext cx="7750810" cy="21351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阿里云AI原生应用架构全解析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490595" y="4424045"/>
            <a:ext cx="2311400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  <a:ln/>
        </p:spPr>
      </p:sp>
      <p:sp>
        <p:nvSpPr>
          <p:cNvPr id="5" name="Text 2"/>
          <p:cNvSpPr/>
          <p:nvPr/>
        </p:nvSpPr>
        <p:spPr>
          <a:xfrm>
            <a:off x="3490595" y="4424045"/>
            <a:ext cx="231140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55670" y="4476115"/>
            <a:ext cx="2385695" cy="3030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</a:t>
            </a:r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:Kimi AI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46165" y="4424045"/>
            <a:ext cx="2311400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  <a:ln/>
        </p:spPr>
      </p:sp>
      <p:sp>
        <p:nvSpPr>
          <p:cNvPr id="8" name="Text 5"/>
          <p:cNvSpPr/>
          <p:nvPr/>
        </p:nvSpPr>
        <p:spPr>
          <a:xfrm>
            <a:off x="6146165" y="4424045"/>
            <a:ext cx="231140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11240" y="4476115"/>
            <a:ext cx="2385695" cy="3030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</a:t>
            </a:r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:2025/01/01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93745" y="472817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  <a:ln/>
        </p:spPr>
      </p:sp>
      <p:sp>
        <p:nvSpPr>
          <p:cNvPr id="11" name="Text 8"/>
          <p:cNvSpPr/>
          <p:nvPr/>
        </p:nvSpPr>
        <p:spPr>
          <a:xfrm>
            <a:off x="893745" y="4728174"/>
            <a:ext cx="1141923" cy="72329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230150" y="156968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  <a:ln/>
        </p:spPr>
      </p:sp>
      <p:sp>
        <p:nvSpPr>
          <p:cNvPr id="13" name="Text 10"/>
          <p:cNvSpPr/>
          <p:nvPr/>
        </p:nvSpPr>
        <p:spPr>
          <a:xfrm>
            <a:off x="10230150" y="1569684"/>
            <a:ext cx="1141923" cy="72329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1" descr="https://kimi-img.moonshot.cn/pub/slides/slides_tmpl/image/25-09-08-12:55:40-d2v63j5nfo2stf9dk4m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835" y="4125595"/>
            <a:ext cx="6468110" cy="298450"/>
          </a:xfrm>
          <a:prstGeom prst="rect">
            <a:avLst/>
          </a:prstGeom>
        </p:spPr>
      </p:pic>
      <p:pic>
        <p:nvPicPr>
          <p:cNvPr id="15" name="Image 2" descr="https://kimi-img.moonshot.cn/pub/slides/slides_tmpl/image/25-09-08-12:55:57-d2v63ndnfo2stf9dk540.png">    </p:cNvPr>
          <p:cNvPicPr>
            <a:picLocks noChangeAspect="1"/>
          </p:cNvPicPr>
          <p:nvPr/>
        </p:nvPicPr>
        <p:blipFill>
          <a:blip r:embed="rId3">
            <a:alphaModFix amt="25000"/>
          </a:blip>
          <a:srcRect l="0" r="0" t="22162" b="0"/>
          <a:stretch/>
        </p:blipFill>
        <p:spPr>
          <a:xfrm>
            <a:off x="777875" y="2787650"/>
            <a:ext cx="2311400" cy="1800225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p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5325" y="995045"/>
            <a:ext cx="3658870" cy="365887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 rot="5400000">
            <a:off x="6951345" y="1617345"/>
            <a:ext cx="6858635" cy="362331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10260" y="704850"/>
            <a:ext cx="2698115" cy="11080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810260" y="704850"/>
            <a:ext cx="2698115" cy="1108075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848610" y="1078865"/>
            <a:ext cx="2884805" cy="49192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15DBB">
                    <a:alpha val="54902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977376" y="2055495"/>
            <a:ext cx="692341" cy="660400"/>
          </a:xfrm>
          <a:prstGeom prst="roundRect">
            <a:avLst/>
          </a:prstGeom>
          <a:solidFill>
            <a:srgbClr val="015DBB"/>
          </a:solidFill>
          <a:ln/>
        </p:spPr>
      </p:sp>
      <p:sp>
        <p:nvSpPr>
          <p:cNvPr id="8" name="Text 4"/>
          <p:cNvSpPr/>
          <p:nvPr/>
        </p:nvSpPr>
        <p:spPr>
          <a:xfrm>
            <a:off x="977376" y="2055495"/>
            <a:ext cx="692341" cy="660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782458" y="2055495"/>
            <a:ext cx="5462239" cy="660400"/>
          </a:xfrm>
          <a:prstGeom prst="round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782458" y="2055495"/>
            <a:ext cx="5462239" cy="660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977376" y="2922905"/>
            <a:ext cx="692341" cy="660400"/>
          </a:xfrm>
          <a:prstGeom prst="roundRect">
            <a:avLst/>
          </a:prstGeom>
          <a:solidFill>
            <a:srgbClr val="015DBB"/>
          </a:solidFill>
          <a:ln/>
        </p:spPr>
      </p:sp>
      <p:sp>
        <p:nvSpPr>
          <p:cNvPr id="12" name="Text 8"/>
          <p:cNvSpPr/>
          <p:nvPr/>
        </p:nvSpPr>
        <p:spPr>
          <a:xfrm>
            <a:off x="977376" y="2922905"/>
            <a:ext cx="692341" cy="660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1782458" y="2922905"/>
            <a:ext cx="5462239" cy="660400"/>
          </a:xfrm>
          <a:prstGeom prst="round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782458" y="2922905"/>
            <a:ext cx="5462239" cy="660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977376" y="3790315"/>
            <a:ext cx="692341" cy="660400"/>
          </a:xfrm>
          <a:prstGeom prst="roundRect">
            <a:avLst/>
          </a:prstGeom>
          <a:solidFill>
            <a:srgbClr val="015DBB"/>
          </a:solidFill>
          <a:ln/>
        </p:spPr>
      </p:sp>
      <p:sp>
        <p:nvSpPr>
          <p:cNvPr id="16" name="Text 12"/>
          <p:cNvSpPr/>
          <p:nvPr/>
        </p:nvSpPr>
        <p:spPr>
          <a:xfrm>
            <a:off x="977376" y="3790315"/>
            <a:ext cx="692341" cy="660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1782458" y="3790315"/>
            <a:ext cx="5462239" cy="660400"/>
          </a:xfrm>
          <a:prstGeom prst="round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782458" y="3790315"/>
            <a:ext cx="5462239" cy="660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977376" y="4657725"/>
            <a:ext cx="692341" cy="660400"/>
          </a:xfrm>
          <a:prstGeom prst="roundRect">
            <a:avLst/>
          </a:prstGeom>
          <a:solidFill>
            <a:srgbClr val="015DBB"/>
          </a:solidFill>
          <a:ln/>
        </p:spPr>
      </p:sp>
      <p:sp>
        <p:nvSpPr>
          <p:cNvPr id="20" name="Text 16"/>
          <p:cNvSpPr/>
          <p:nvPr/>
        </p:nvSpPr>
        <p:spPr>
          <a:xfrm>
            <a:off x="977376" y="4657725"/>
            <a:ext cx="692341" cy="660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1782457" y="4657725"/>
            <a:ext cx="5462240" cy="660400"/>
          </a:xfrm>
          <a:prstGeom prst="round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782457" y="4657725"/>
            <a:ext cx="5462240" cy="660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977376" y="5525135"/>
            <a:ext cx="692341" cy="660400"/>
          </a:xfrm>
          <a:prstGeom prst="roundRect">
            <a:avLst/>
          </a:prstGeom>
          <a:solidFill>
            <a:srgbClr val="015DBB"/>
          </a:solidFill>
          <a:ln/>
        </p:spPr>
      </p:sp>
      <p:sp>
        <p:nvSpPr>
          <p:cNvPr id="24" name="Text 20"/>
          <p:cNvSpPr/>
          <p:nvPr/>
        </p:nvSpPr>
        <p:spPr>
          <a:xfrm>
            <a:off x="977376" y="5525135"/>
            <a:ext cx="692341" cy="660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1782458" y="5525135"/>
            <a:ext cx="5462239" cy="660400"/>
          </a:xfrm>
          <a:prstGeom prst="round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782458" y="5525135"/>
            <a:ext cx="5462239" cy="660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7163100" y="70481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  <a:ln/>
        </p:spPr>
      </p:sp>
      <p:sp>
        <p:nvSpPr>
          <p:cNvPr id="28" name="Text 24"/>
          <p:cNvSpPr/>
          <p:nvPr/>
        </p:nvSpPr>
        <p:spPr>
          <a:xfrm>
            <a:off x="7163100" y="704814"/>
            <a:ext cx="1141923" cy="72329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9965355" y="5226649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CFCFF"/>
          </a:solidFill>
          <a:ln/>
        </p:spPr>
      </p:sp>
      <p:sp>
        <p:nvSpPr>
          <p:cNvPr id="30" name="Text 26"/>
          <p:cNvSpPr/>
          <p:nvPr/>
        </p:nvSpPr>
        <p:spPr>
          <a:xfrm>
            <a:off x="9965355" y="5226649"/>
            <a:ext cx="1141923" cy="72329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1" name="Image 2" descr="https://kimi-img.moonshot.cn/pub/slides/slides_tmpl/image/25-09-08-12:55:42-d2v63jlnfo2stf9dk4s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195" y="1015365"/>
            <a:ext cx="3432175" cy="357251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88302" y="2141816"/>
            <a:ext cx="656085" cy="4405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1875829" y="2209573"/>
            <a:ext cx="5185601" cy="365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300" kern="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AI原生浪潮到来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988302" y="3009226"/>
            <a:ext cx="656085" cy="4405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1875829" y="3076983"/>
            <a:ext cx="5184608" cy="365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阿里云AI原生框架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988302" y="3876636"/>
            <a:ext cx="656085" cy="4405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1875829" y="3937432"/>
            <a:ext cx="5184608" cy="365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Serverless AI工程化</a:t>
            </a:r>
            <a:endParaRPr lang="en-US" sz="1600" dirty="0"/>
          </a:p>
        </p:txBody>
      </p:sp>
      <p:sp>
        <p:nvSpPr>
          <p:cNvPr id="38" name="Text 33"/>
          <p:cNvSpPr/>
          <p:nvPr/>
        </p:nvSpPr>
        <p:spPr>
          <a:xfrm>
            <a:off x="918770" y="4744046"/>
            <a:ext cx="793659" cy="4405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9" name="Text 34"/>
          <p:cNvSpPr/>
          <p:nvPr/>
        </p:nvSpPr>
        <p:spPr>
          <a:xfrm>
            <a:off x="1875829" y="4804842"/>
            <a:ext cx="5184608" cy="365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数据智能基础设施</a:t>
            </a:r>
            <a:endParaRPr lang="en-US" sz="1600" dirty="0"/>
          </a:p>
        </p:txBody>
      </p:sp>
      <p:sp>
        <p:nvSpPr>
          <p:cNvPr id="40" name="Text 35"/>
          <p:cNvSpPr/>
          <p:nvPr/>
        </p:nvSpPr>
        <p:spPr>
          <a:xfrm>
            <a:off x="988302" y="5611456"/>
            <a:ext cx="656085" cy="4405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41" name="Text 36"/>
          <p:cNvSpPr/>
          <p:nvPr/>
        </p:nvSpPr>
        <p:spPr>
          <a:xfrm>
            <a:off x="1875829" y="5679213"/>
            <a:ext cx="5184608" cy="365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场景实践与未来展望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7435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AI原生浪潮到来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70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>    </p:cNvPr>
          <p:cNvPicPr>
            <a:picLocks noChangeAspect="1"/>
          </p:cNvPicPr>
          <p:nvPr/>
        </p:nvPicPr>
        <p:blipFill>
          <a:blip r:embed="rId2"/>
          <a:srcRect l="0" r="0" t="1192" b="1192"/>
          <a:stretch/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>    </p:cNvPr>
          <p:cNvPicPr>
            <a:picLocks noChangeAspect="1"/>
          </p:cNvPicPr>
          <p:nvPr/>
        </p:nvPicPr>
        <p:blipFill>
          <a:blip r:embed="rId3"/>
          <a:srcRect l="0" r="0" t="22162" b="0"/>
          <a:stretch/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>    </p:cNvPr>
          <p:cNvPicPr>
            <a:picLocks noChangeAspect="1"/>
          </p:cNvPicPr>
          <p:nvPr/>
        </p:nvPicPr>
        <p:blipFill>
          <a:blip r:embed="rId4">
            <a:alphaModFix amt="30000"/>
          </a:blip>
          <a:srcRect l="0" r="0" t="22162" b="0"/>
          <a:stretch/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4000" y="122003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从云原生到AI原生：技术范式跃迁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54000" y="1880105"/>
            <a:ext cx="1168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7BD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AI原生是云计算之后的新范式，软件开发正从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7BD5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代码中心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7BD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走向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7BD5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模型中心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7BD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54000" y="2641744"/>
            <a:ext cx="613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传统云原生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54000" y="3098872"/>
            <a:ext cx="5626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聚焦资源弹性，以容器化和微服务为核心，解决应用部署与扩展问题。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54000" y="3911383"/>
            <a:ext cx="5626100" cy="685800"/>
          </a:xfrm>
          <a:custGeom>
            <a:avLst/>
            <a:gdLst/>
            <a:ahLst/>
            <a:cxnLst/>
            <a:rect l="l" t="t" r="r" b="b"/>
            <a:pathLst>
              <a:path w="5626100" h="685800">
                <a:moveTo>
                  <a:pt x="101601" y="0"/>
                </a:moveTo>
                <a:lnTo>
                  <a:pt x="5524499" y="0"/>
                </a:lnTo>
                <a:cubicBezTo>
                  <a:pt x="5580612" y="0"/>
                  <a:pt x="5626100" y="45488"/>
                  <a:pt x="5626100" y="101601"/>
                </a:cubicBezTo>
                <a:lnTo>
                  <a:pt x="5626100" y="584199"/>
                </a:lnTo>
                <a:cubicBezTo>
                  <a:pt x="5626100" y="640312"/>
                  <a:pt x="5580612" y="685800"/>
                  <a:pt x="5524499" y="685800"/>
                </a:cubicBezTo>
                <a:lnTo>
                  <a:pt x="101601" y="685800"/>
                </a:lnTo>
                <a:cubicBezTo>
                  <a:pt x="45488" y="685800"/>
                  <a:pt x="0" y="640312"/>
                  <a:pt x="0" y="5841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457056" y="406363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11336" y="-967"/>
                </a:moveTo>
                <a:cubicBezTo>
                  <a:pt x="198462" y="-8409"/>
                  <a:pt x="182538" y="-8409"/>
                  <a:pt x="169664" y="-967"/>
                </a:cubicBezTo>
                <a:lnTo>
                  <a:pt x="107007" y="35198"/>
                </a:lnTo>
                <a:cubicBezTo>
                  <a:pt x="94134" y="42639"/>
                  <a:pt x="86171" y="56406"/>
                  <a:pt x="86171" y="71289"/>
                </a:cubicBezTo>
                <a:lnTo>
                  <a:pt x="86171" y="147117"/>
                </a:lnTo>
                <a:lnTo>
                  <a:pt x="20464" y="185068"/>
                </a:lnTo>
                <a:cubicBezTo>
                  <a:pt x="7590" y="192509"/>
                  <a:pt x="-372" y="206276"/>
                  <a:pt x="-372" y="221159"/>
                </a:cubicBezTo>
                <a:lnTo>
                  <a:pt x="-372" y="293563"/>
                </a:lnTo>
                <a:cubicBezTo>
                  <a:pt x="-372" y="308446"/>
                  <a:pt x="7590" y="322213"/>
                  <a:pt x="20464" y="329654"/>
                </a:cubicBezTo>
                <a:lnTo>
                  <a:pt x="83195" y="365820"/>
                </a:lnTo>
                <a:cubicBezTo>
                  <a:pt x="96069" y="373261"/>
                  <a:pt x="111993" y="373261"/>
                  <a:pt x="124867" y="365820"/>
                </a:cubicBezTo>
                <a:lnTo>
                  <a:pt x="190574" y="327868"/>
                </a:lnTo>
                <a:lnTo>
                  <a:pt x="256282" y="365820"/>
                </a:lnTo>
                <a:cubicBezTo>
                  <a:pt x="269156" y="373261"/>
                  <a:pt x="285080" y="373261"/>
                  <a:pt x="297954" y="365820"/>
                </a:cubicBezTo>
                <a:lnTo>
                  <a:pt x="360536" y="329654"/>
                </a:lnTo>
                <a:cubicBezTo>
                  <a:pt x="373410" y="322213"/>
                  <a:pt x="381372" y="308446"/>
                  <a:pt x="381372" y="293563"/>
                </a:cubicBezTo>
                <a:lnTo>
                  <a:pt x="381372" y="221159"/>
                </a:lnTo>
                <a:cubicBezTo>
                  <a:pt x="381372" y="206276"/>
                  <a:pt x="373410" y="192509"/>
                  <a:pt x="360536" y="185068"/>
                </a:cubicBezTo>
                <a:lnTo>
                  <a:pt x="294829" y="147117"/>
                </a:lnTo>
                <a:lnTo>
                  <a:pt x="294829" y="71289"/>
                </a:lnTo>
                <a:cubicBezTo>
                  <a:pt x="294829" y="56406"/>
                  <a:pt x="286866" y="42639"/>
                  <a:pt x="273993" y="35198"/>
                </a:cubicBezTo>
                <a:lnTo>
                  <a:pt x="211336" y="-967"/>
                </a:lnTo>
                <a:close/>
                <a:moveTo>
                  <a:pt x="172641" y="217736"/>
                </a:moveTo>
                <a:lnTo>
                  <a:pt x="172641" y="296987"/>
                </a:lnTo>
                <a:lnTo>
                  <a:pt x="106933" y="334938"/>
                </a:lnTo>
                <a:cubicBezTo>
                  <a:pt x="106040" y="335459"/>
                  <a:pt x="104998" y="335756"/>
                  <a:pt x="103956" y="335756"/>
                </a:cubicBezTo>
                <a:lnTo>
                  <a:pt x="103956" y="257398"/>
                </a:lnTo>
                <a:lnTo>
                  <a:pt x="172641" y="217736"/>
                </a:lnTo>
                <a:close/>
                <a:moveTo>
                  <a:pt x="344835" y="218182"/>
                </a:moveTo>
                <a:cubicBezTo>
                  <a:pt x="345356" y="219075"/>
                  <a:pt x="345653" y="220117"/>
                  <a:pt x="345653" y="221159"/>
                </a:cubicBezTo>
                <a:lnTo>
                  <a:pt x="345653" y="293563"/>
                </a:lnTo>
                <a:cubicBezTo>
                  <a:pt x="345653" y="295721"/>
                  <a:pt x="344537" y="297656"/>
                  <a:pt x="342677" y="298698"/>
                </a:cubicBezTo>
                <a:lnTo>
                  <a:pt x="279946" y="334863"/>
                </a:lnTo>
                <a:cubicBezTo>
                  <a:pt x="279053" y="335384"/>
                  <a:pt x="278011" y="335682"/>
                  <a:pt x="276969" y="335682"/>
                </a:cubicBezTo>
                <a:lnTo>
                  <a:pt x="276969" y="257324"/>
                </a:lnTo>
                <a:lnTo>
                  <a:pt x="344835" y="218182"/>
                </a:lnTo>
                <a:close/>
                <a:moveTo>
                  <a:pt x="259184" y="71289"/>
                </a:moveTo>
                <a:lnTo>
                  <a:pt x="259184" y="147117"/>
                </a:lnTo>
                <a:lnTo>
                  <a:pt x="190500" y="186779"/>
                </a:lnTo>
                <a:lnTo>
                  <a:pt x="190500" y="107528"/>
                </a:lnTo>
                <a:lnTo>
                  <a:pt x="258366" y="68387"/>
                </a:lnTo>
                <a:cubicBezTo>
                  <a:pt x="258887" y="69279"/>
                  <a:pt x="259184" y="70321"/>
                  <a:pt x="259184" y="71363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0" name="Text 6"/>
          <p:cNvSpPr/>
          <p:nvPr/>
        </p:nvSpPr>
        <p:spPr>
          <a:xfrm>
            <a:off x="1085633" y="4101703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资源弹性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291010" y="2641744"/>
            <a:ext cx="0" cy="2997200"/>
          </a:xfrm>
          <a:prstGeom prst="line">
            <a:avLst/>
          </a:prstGeom>
          <a:noFill/>
          <a:ln w="46182">
            <a:solidFill>
              <a:srgbClr val="3A7BD5"/>
            </a:solidFill>
            <a:prstDash val="solid"/>
            <a:headEnd type="none"/>
            <a:tailEnd type="none"/>
          </a:ln>
        </p:spPr>
      </p:sp>
      <p:sp>
        <p:nvSpPr>
          <p:cNvPr id="12" name="Text 8"/>
          <p:cNvSpPr/>
          <p:nvPr/>
        </p:nvSpPr>
        <p:spPr>
          <a:xfrm>
            <a:off x="6743447" y="2641744"/>
            <a:ext cx="5702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AI原生应用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743447" y="3098872"/>
            <a:ext cx="5194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强调模型即服务、数据智能驱动，企业IT架构需围绕大模型生命周期重新设计。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743447" y="3911383"/>
            <a:ext cx="5194300" cy="508000"/>
          </a:xfrm>
          <a:custGeom>
            <a:avLst/>
            <a:gdLst/>
            <a:ahLst/>
            <a:cxnLst/>
            <a:rect l="l" t="t" r="r" b="b"/>
            <a:pathLst>
              <a:path w="5194300" h="508000">
                <a:moveTo>
                  <a:pt x="101600" y="0"/>
                </a:moveTo>
                <a:lnTo>
                  <a:pt x="5092700" y="0"/>
                </a:lnTo>
                <a:cubicBezTo>
                  <a:pt x="5148775" y="0"/>
                  <a:pt x="5194300" y="45525"/>
                  <a:pt x="5194300" y="101600"/>
                </a:cubicBezTo>
                <a:lnTo>
                  <a:pt x="5194300" y="406400"/>
                </a:lnTo>
                <a:cubicBezTo>
                  <a:pt x="5194300" y="462475"/>
                  <a:pt x="5148775" y="508000"/>
                  <a:pt x="50927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876761" y="403820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9531" y="27781"/>
                </a:moveTo>
                <a:cubicBezTo>
                  <a:pt x="59531" y="12452"/>
                  <a:pt x="71983" y="0"/>
                  <a:pt x="87313" y="0"/>
                </a:cubicBezTo>
                <a:lnTo>
                  <a:pt x="99219" y="0"/>
                </a:lnTo>
                <a:cubicBezTo>
                  <a:pt x="108000" y="0"/>
                  <a:pt x="115094" y="7094"/>
                  <a:pt x="115094" y="15875"/>
                </a:cubicBezTo>
                <a:lnTo>
                  <a:pt x="115094" y="238125"/>
                </a:lnTo>
                <a:cubicBezTo>
                  <a:pt x="115094" y="246906"/>
                  <a:pt x="108000" y="254000"/>
                  <a:pt x="99219" y="254000"/>
                </a:cubicBezTo>
                <a:lnTo>
                  <a:pt x="83344" y="254000"/>
                </a:lnTo>
                <a:cubicBezTo>
                  <a:pt x="68560" y="254000"/>
                  <a:pt x="56108" y="243880"/>
                  <a:pt x="52586" y="230188"/>
                </a:cubicBezTo>
                <a:cubicBezTo>
                  <a:pt x="52239" y="230188"/>
                  <a:pt x="51941" y="230188"/>
                  <a:pt x="51594" y="230188"/>
                </a:cubicBezTo>
                <a:cubicBezTo>
                  <a:pt x="29666" y="230188"/>
                  <a:pt x="11906" y="212427"/>
                  <a:pt x="11906" y="190500"/>
                </a:cubicBezTo>
                <a:cubicBezTo>
                  <a:pt x="11906" y="181570"/>
                  <a:pt x="14883" y="173335"/>
                  <a:pt x="19844" y="166688"/>
                </a:cubicBezTo>
                <a:cubicBezTo>
                  <a:pt x="10220" y="159445"/>
                  <a:pt x="3969" y="147935"/>
                  <a:pt x="3969" y="134938"/>
                </a:cubicBezTo>
                <a:cubicBezTo>
                  <a:pt x="3969" y="119608"/>
                  <a:pt x="12700" y="106263"/>
                  <a:pt x="25400" y="99665"/>
                </a:cubicBezTo>
                <a:cubicBezTo>
                  <a:pt x="21878" y="93712"/>
                  <a:pt x="19844" y="86767"/>
                  <a:pt x="19844" y="79375"/>
                </a:cubicBezTo>
                <a:cubicBezTo>
                  <a:pt x="19844" y="57448"/>
                  <a:pt x="37604" y="39688"/>
                  <a:pt x="59531" y="39688"/>
                </a:cubicBezTo>
                <a:lnTo>
                  <a:pt x="59531" y="27781"/>
                </a:lnTo>
                <a:close/>
                <a:moveTo>
                  <a:pt x="194469" y="27781"/>
                </a:moveTo>
                <a:lnTo>
                  <a:pt x="194469" y="39688"/>
                </a:lnTo>
                <a:cubicBezTo>
                  <a:pt x="216396" y="39688"/>
                  <a:pt x="234156" y="57448"/>
                  <a:pt x="234156" y="79375"/>
                </a:cubicBezTo>
                <a:cubicBezTo>
                  <a:pt x="234156" y="86816"/>
                  <a:pt x="232122" y="93762"/>
                  <a:pt x="228600" y="99665"/>
                </a:cubicBezTo>
                <a:cubicBezTo>
                  <a:pt x="241350" y="106263"/>
                  <a:pt x="250031" y="119559"/>
                  <a:pt x="250031" y="134938"/>
                </a:cubicBezTo>
                <a:cubicBezTo>
                  <a:pt x="250031" y="147935"/>
                  <a:pt x="243780" y="159445"/>
                  <a:pt x="234156" y="166688"/>
                </a:cubicBezTo>
                <a:cubicBezTo>
                  <a:pt x="239117" y="173335"/>
                  <a:pt x="242094" y="181570"/>
                  <a:pt x="242094" y="190500"/>
                </a:cubicBezTo>
                <a:cubicBezTo>
                  <a:pt x="242094" y="212427"/>
                  <a:pt x="224334" y="230188"/>
                  <a:pt x="202406" y="230188"/>
                </a:cubicBezTo>
                <a:cubicBezTo>
                  <a:pt x="202059" y="230188"/>
                  <a:pt x="201761" y="230188"/>
                  <a:pt x="201414" y="230188"/>
                </a:cubicBezTo>
                <a:cubicBezTo>
                  <a:pt x="197892" y="243880"/>
                  <a:pt x="185440" y="254000"/>
                  <a:pt x="170656" y="254000"/>
                </a:cubicBezTo>
                <a:lnTo>
                  <a:pt x="154781" y="254000"/>
                </a:lnTo>
                <a:cubicBezTo>
                  <a:pt x="146000" y="254000"/>
                  <a:pt x="138906" y="246906"/>
                  <a:pt x="138906" y="238125"/>
                </a:cubicBezTo>
                <a:lnTo>
                  <a:pt x="138906" y="15875"/>
                </a:lnTo>
                <a:cubicBezTo>
                  <a:pt x="138906" y="7094"/>
                  <a:pt x="146000" y="0"/>
                  <a:pt x="154781" y="0"/>
                </a:cubicBezTo>
                <a:lnTo>
                  <a:pt x="166688" y="0"/>
                </a:lnTo>
                <a:cubicBezTo>
                  <a:pt x="182017" y="0"/>
                  <a:pt x="194469" y="12452"/>
                  <a:pt x="194469" y="27781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6" name="Text 12"/>
          <p:cNvSpPr/>
          <p:nvPr/>
        </p:nvSpPr>
        <p:spPr>
          <a:xfrm>
            <a:off x="7314767" y="4012947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模型优先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743447" y="4520767"/>
            <a:ext cx="5194300" cy="508000"/>
          </a:xfrm>
          <a:custGeom>
            <a:avLst/>
            <a:gdLst/>
            <a:ahLst/>
            <a:cxnLst/>
            <a:rect l="l" t="t" r="r" b="b"/>
            <a:pathLst>
              <a:path w="5194300" h="508000">
                <a:moveTo>
                  <a:pt x="101600" y="0"/>
                </a:moveTo>
                <a:lnTo>
                  <a:pt x="5092700" y="0"/>
                </a:lnTo>
                <a:cubicBezTo>
                  <a:pt x="5148775" y="0"/>
                  <a:pt x="5194300" y="45525"/>
                  <a:pt x="5194300" y="101600"/>
                </a:cubicBezTo>
                <a:lnTo>
                  <a:pt x="5194300" y="406400"/>
                </a:lnTo>
                <a:cubicBezTo>
                  <a:pt x="5194300" y="462475"/>
                  <a:pt x="5148775" y="508000"/>
                  <a:pt x="50927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6876761" y="464758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38175" y="95250"/>
                </a:moveTo>
                <a:lnTo>
                  <a:pt x="242094" y="95250"/>
                </a:lnTo>
                <a:cubicBezTo>
                  <a:pt x="248692" y="95250"/>
                  <a:pt x="254000" y="89942"/>
                  <a:pt x="254000" y="83344"/>
                </a:cubicBezTo>
                <a:lnTo>
                  <a:pt x="254000" y="11906"/>
                </a:lnTo>
                <a:cubicBezTo>
                  <a:pt x="254000" y="7094"/>
                  <a:pt x="251123" y="2729"/>
                  <a:pt x="246658" y="893"/>
                </a:cubicBezTo>
                <a:cubicBezTo>
                  <a:pt x="242193" y="-943"/>
                  <a:pt x="237083" y="99"/>
                  <a:pt x="233660" y="3473"/>
                </a:cubicBezTo>
                <a:lnTo>
                  <a:pt x="208012" y="29170"/>
                </a:lnTo>
                <a:cubicBezTo>
                  <a:pt x="186035" y="10964"/>
                  <a:pt x="157758" y="0"/>
                  <a:pt x="127000" y="0"/>
                </a:cubicBezTo>
                <a:cubicBezTo>
                  <a:pt x="63004" y="0"/>
                  <a:pt x="10071" y="47327"/>
                  <a:pt x="1290" y="108893"/>
                </a:cubicBezTo>
                <a:cubicBezTo>
                  <a:pt x="50" y="117574"/>
                  <a:pt x="6052" y="125611"/>
                  <a:pt x="14734" y="126851"/>
                </a:cubicBezTo>
                <a:cubicBezTo>
                  <a:pt x="23416" y="128091"/>
                  <a:pt x="31452" y="122039"/>
                  <a:pt x="32693" y="113407"/>
                </a:cubicBezTo>
                <a:cubicBezTo>
                  <a:pt x="39291" y="67221"/>
                  <a:pt x="79028" y="31750"/>
                  <a:pt x="127000" y="31750"/>
                </a:cubicBezTo>
                <a:cubicBezTo>
                  <a:pt x="149027" y="31750"/>
                  <a:pt x="169267" y="39191"/>
                  <a:pt x="185390" y="51743"/>
                </a:cubicBezTo>
                <a:lnTo>
                  <a:pt x="162223" y="74910"/>
                </a:lnTo>
                <a:cubicBezTo>
                  <a:pt x="158800" y="78333"/>
                  <a:pt x="157807" y="83443"/>
                  <a:pt x="159643" y="87908"/>
                </a:cubicBezTo>
                <a:cubicBezTo>
                  <a:pt x="161479" y="92373"/>
                  <a:pt x="165844" y="95250"/>
                  <a:pt x="170656" y="95250"/>
                </a:cubicBezTo>
                <a:lnTo>
                  <a:pt x="238175" y="95250"/>
                </a:lnTo>
                <a:close/>
                <a:moveTo>
                  <a:pt x="252760" y="145107"/>
                </a:moveTo>
                <a:cubicBezTo>
                  <a:pt x="254000" y="136426"/>
                  <a:pt x="247948" y="128389"/>
                  <a:pt x="239316" y="127149"/>
                </a:cubicBezTo>
                <a:cubicBezTo>
                  <a:pt x="230684" y="125909"/>
                  <a:pt x="222597" y="131961"/>
                  <a:pt x="221357" y="140593"/>
                </a:cubicBezTo>
                <a:cubicBezTo>
                  <a:pt x="214759" y="186730"/>
                  <a:pt x="175022" y="222200"/>
                  <a:pt x="127050" y="222200"/>
                </a:cubicBezTo>
                <a:cubicBezTo>
                  <a:pt x="105023" y="222200"/>
                  <a:pt x="84782" y="214759"/>
                  <a:pt x="68659" y="202208"/>
                </a:cubicBezTo>
                <a:lnTo>
                  <a:pt x="91777" y="179090"/>
                </a:lnTo>
                <a:cubicBezTo>
                  <a:pt x="95200" y="175667"/>
                  <a:pt x="96193" y="170557"/>
                  <a:pt x="94357" y="166092"/>
                </a:cubicBezTo>
                <a:cubicBezTo>
                  <a:pt x="92521" y="161627"/>
                  <a:pt x="88156" y="158750"/>
                  <a:pt x="83344" y="158750"/>
                </a:cubicBezTo>
                <a:lnTo>
                  <a:pt x="11906" y="158750"/>
                </a:lnTo>
                <a:cubicBezTo>
                  <a:pt x="5308" y="158750"/>
                  <a:pt x="0" y="164058"/>
                  <a:pt x="0" y="170656"/>
                </a:cubicBezTo>
                <a:lnTo>
                  <a:pt x="0" y="242094"/>
                </a:lnTo>
                <a:cubicBezTo>
                  <a:pt x="0" y="246906"/>
                  <a:pt x="2877" y="251271"/>
                  <a:pt x="7342" y="253107"/>
                </a:cubicBezTo>
                <a:cubicBezTo>
                  <a:pt x="11807" y="254943"/>
                  <a:pt x="16917" y="253901"/>
                  <a:pt x="20340" y="250527"/>
                </a:cubicBezTo>
                <a:lnTo>
                  <a:pt x="46037" y="224830"/>
                </a:lnTo>
                <a:cubicBezTo>
                  <a:pt x="67965" y="243036"/>
                  <a:pt x="96242" y="254000"/>
                  <a:pt x="127000" y="254000"/>
                </a:cubicBezTo>
                <a:cubicBezTo>
                  <a:pt x="190996" y="254000"/>
                  <a:pt x="243929" y="206673"/>
                  <a:pt x="252710" y="145107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9" name="Text 15"/>
          <p:cNvSpPr/>
          <p:nvPr/>
        </p:nvSpPr>
        <p:spPr>
          <a:xfrm>
            <a:off x="7314767" y="4622331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数据闭环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743447" y="5130151"/>
            <a:ext cx="5194300" cy="508000"/>
          </a:xfrm>
          <a:custGeom>
            <a:avLst/>
            <a:gdLst/>
            <a:ahLst/>
            <a:cxnLst/>
            <a:rect l="l" t="t" r="r" b="b"/>
            <a:pathLst>
              <a:path w="5194300" h="508000">
                <a:moveTo>
                  <a:pt x="101600" y="0"/>
                </a:moveTo>
                <a:lnTo>
                  <a:pt x="5092700" y="0"/>
                </a:lnTo>
                <a:cubicBezTo>
                  <a:pt x="5148775" y="0"/>
                  <a:pt x="5194300" y="45525"/>
                  <a:pt x="5194300" y="101600"/>
                </a:cubicBezTo>
                <a:lnTo>
                  <a:pt x="5194300" y="406400"/>
                </a:lnTo>
                <a:cubicBezTo>
                  <a:pt x="5194300" y="462475"/>
                  <a:pt x="5148775" y="508000"/>
                  <a:pt x="50927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6876761" y="525697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22" name="Text 18"/>
          <p:cNvSpPr/>
          <p:nvPr/>
        </p:nvSpPr>
        <p:spPr>
          <a:xfrm>
            <a:off x="7314767" y="5231714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实时反馈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413235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企业落地AI的三大痛点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0" y="1971928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7BD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白皮书调研显示，超七成企业认为这三大瓶颈阻碍了AI的规模化应用。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54000" y="2733566"/>
            <a:ext cx="3695700" cy="2400300"/>
          </a:xfrm>
          <a:custGeom>
            <a:avLst/>
            <a:gdLst/>
            <a:ahLst/>
            <a:cxnLst/>
            <a:rect l="l" t="t" r="r" b="b"/>
            <a:pathLst>
              <a:path w="3695700" h="2400300">
                <a:moveTo>
                  <a:pt x="152395" y="0"/>
                </a:moveTo>
                <a:lnTo>
                  <a:pt x="3543305" y="0"/>
                </a:lnTo>
                <a:cubicBezTo>
                  <a:pt x="3627470" y="0"/>
                  <a:pt x="3695700" y="68230"/>
                  <a:pt x="3695700" y="152395"/>
                </a:cubicBezTo>
                <a:lnTo>
                  <a:pt x="3695700" y="2247905"/>
                </a:lnTo>
                <a:cubicBezTo>
                  <a:pt x="3695700" y="2332070"/>
                  <a:pt x="3627470" y="2400300"/>
                  <a:pt x="3543305" y="2400300"/>
                </a:cubicBezTo>
                <a:lnTo>
                  <a:pt x="152395" y="2400300"/>
                </a:lnTo>
                <a:cubicBezTo>
                  <a:pt x="68230" y="2400300"/>
                  <a:pt x="0" y="2332070"/>
                  <a:pt x="0" y="224790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A8D0F5">
              <a:alpha val="20000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693393" y="2936694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8" name="Shape 4"/>
          <p:cNvSpPr/>
          <p:nvPr/>
        </p:nvSpPr>
        <p:spPr>
          <a:xfrm>
            <a:off x="1912324" y="3152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30969" y="17859"/>
                </a:moveTo>
                <a:cubicBezTo>
                  <a:pt x="130969" y="7962"/>
                  <a:pt x="123006" y="0"/>
                  <a:pt x="113109" y="0"/>
                </a:cubicBezTo>
                <a:cubicBezTo>
                  <a:pt x="103212" y="0"/>
                  <a:pt x="95250" y="7962"/>
                  <a:pt x="95250" y="17859"/>
                </a:cubicBezTo>
                <a:lnTo>
                  <a:pt x="95250" y="47625"/>
                </a:lnTo>
                <a:cubicBezTo>
                  <a:pt x="68982" y="47625"/>
                  <a:pt x="47625" y="68982"/>
                  <a:pt x="47625" y="95250"/>
                </a:cubicBezTo>
                <a:lnTo>
                  <a:pt x="17859" y="95250"/>
                </a:lnTo>
                <a:cubicBezTo>
                  <a:pt x="7962" y="95250"/>
                  <a:pt x="0" y="103212"/>
                  <a:pt x="0" y="113109"/>
                </a:cubicBezTo>
                <a:cubicBezTo>
                  <a:pt x="0" y="123006"/>
                  <a:pt x="7962" y="130969"/>
                  <a:pt x="17859" y="130969"/>
                </a:cubicBezTo>
                <a:lnTo>
                  <a:pt x="47625" y="130969"/>
                </a:lnTo>
                <a:lnTo>
                  <a:pt x="47625" y="172641"/>
                </a:lnTo>
                <a:lnTo>
                  <a:pt x="17859" y="172641"/>
                </a:lnTo>
                <a:cubicBezTo>
                  <a:pt x="7962" y="172641"/>
                  <a:pt x="0" y="180603"/>
                  <a:pt x="0" y="190500"/>
                </a:cubicBezTo>
                <a:cubicBezTo>
                  <a:pt x="0" y="200397"/>
                  <a:pt x="7962" y="208359"/>
                  <a:pt x="17859" y="208359"/>
                </a:cubicBezTo>
                <a:lnTo>
                  <a:pt x="47625" y="208359"/>
                </a:lnTo>
                <a:lnTo>
                  <a:pt x="47625" y="250031"/>
                </a:lnTo>
                <a:lnTo>
                  <a:pt x="17859" y="250031"/>
                </a:lnTo>
                <a:cubicBezTo>
                  <a:pt x="7962" y="250031"/>
                  <a:pt x="0" y="257994"/>
                  <a:pt x="0" y="267891"/>
                </a:cubicBezTo>
                <a:cubicBezTo>
                  <a:pt x="0" y="277788"/>
                  <a:pt x="7962" y="285750"/>
                  <a:pt x="17859" y="285750"/>
                </a:cubicBezTo>
                <a:lnTo>
                  <a:pt x="47625" y="285750"/>
                </a:lnTo>
                <a:cubicBezTo>
                  <a:pt x="47625" y="312018"/>
                  <a:pt x="68982" y="333375"/>
                  <a:pt x="95250" y="333375"/>
                </a:cubicBezTo>
                <a:lnTo>
                  <a:pt x="95250" y="363141"/>
                </a:lnTo>
                <a:cubicBezTo>
                  <a:pt x="95250" y="373038"/>
                  <a:pt x="103212" y="381000"/>
                  <a:pt x="113109" y="381000"/>
                </a:cubicBezTo>
                <a:cubicBezTo>
                  <a:pt x="123006" y="381000"/>
                  <a:pt x="130969" y="373038"/>
                  <a:pt x="130969" y="363141"/>
                </a:cubicBezTo>
                <a:lnTo>
                  <a:pt x="130969" y="333375"/>
                </a:lnTo>
                <a:lnTo>
                  <a:pt x="172641" y="333375"/>
                </a:lnTo>
                <a:lnTo>
                  <a:pt x="172641" y="363141"/>
                </a:lnTo>
                <a:cubicBezTo>
                  <a:pt x="172641" y="373038"/>
                  <a:pt x="180603" y="381000"/>
                  <a:pt x="190500" y="381000"/>
                </a:cubicBezTo>
                <a:cubicBezTo>
                  <a:pt x="200397" y="381000"/>
                  <a:pt x="208359" y="373038"/>
                  <a:pt x="208359" y="363141"/>
                </a:cubicBezTo>
                <a:lnTo>
                  <a:pt x="208359" y="333375"/>
                </a:lnTo>
                <a:lnTo>
                  <a:pt x="250031" y="333375"/>
                </a:lnTo>
                <a:lnTo>
                  <a:pt x="250031" y="363141"/>
                </a:lnTo>
                <a:cubicBezTo>
                  <a:pt x="250031" y="373038"/>
                  <a:pt x="257994" y="381000"/>
                  <a:pt x="267891" y="381000"/>
                </a:cubicBezTo>
                <a:cubicBezTo>
                  <a:pt x="277788" y="381000"/>
                  <a:pt x="285750" y="373038"/>
                  <a:pt x="285750" y="363141"/>
                </a:cubicBezTo>
                <a:lnTo>
                  <a:pt x="285750" y="333375"/>
                </a:lnTo>
                <a:cubicBezTo>
                  <a:pt x="312018" y="333375"/>
                  <a:pt x="333375" y="312018"/>
                  <a:pt x="333375" y="285750"/>
                </a:cubicBezTo>
                <a:lnTo>
                  <a:pt x="363141" y="285750"/>
                </a:lnTo>
                <a:cubicBezTo>
                  <a:pt x="373038" y="285750"/>
                  <a:pt x="381000" y="277788"/>
                  <a:pt x="381000" y="267891"/>
                </a:cubicBezTo>
                <a:cubicBezTo>
                  <a:pt x="381000" y="257994"/>
                  <a:pt x="373038" y="250031"/>
                  <a:pt x="363141" y="250031"/>
                </a:cubicBezTo>
                <a:lnTo>
                  <a:pt x="333375" y="250031"/>
                </a:lnTo>
                <a:lnTo>
                  <a:pt x="333375" y="208359"/>
                </a:lnTo>
                <a:lnTo>
                  <a:pt x="363141" y="208359"/>
                </a:lnTo>
                <a:cubicBezTo>
                  <a:pt x="373038" y="208359"/>
                  <a:pt x="381000" y="200397"/>
                  <a:pt x="381000" y="190500"/>
                </a:cubicBezTo>
                <a:cubicBezTo>
                  <a:pt x="381000" y="180603"/>
                  <a:pt x="373038" y="172641"/>
                  <a:pt x="363141" y="172641"/>
                </a:cubicBezTo>
                <a:lnTo>
                  <a:pt x="333375" y="172641"/>
                </a:lnTo>
                <a:lnTo>
                  <a:pt x="333375" y="130969"/>
                </a:lnTo>
                <a:lnTo>
                  <a:pt x="363141" y="130969"/>
                </a:lnTo>
                <a:cubicBezTo>
                  <a:pt x="373038" y="130969"/>
                  <a:pt x="381000" y="123006"/>
                  <a:pt x="381000" y="113109"/>
                </a:cubicBezTo>
                <a:cubicBezTo>
                  <a:pt x="381000" y="103212"/>
                  <a:pt x="373038" y="95250"/>
                  <a:pt x="363141" y="95250"/>
                </a:cubicBezTo>
                <a:lnTo>
                  <a:pt x="333375" y="95250"/>
                </a:lnTo>
                <a:cubicBezTo>
                  <a:pt x="333375" y="68982"/>
                  <a:pt x="312018" y="47625"/>
                  <a:pt x="285750" y="47625"/>
                </a:cubicBezTo>
                <a:lnTo>
                  <a:pt x="285750" y="17859"/>
                </a:lnTo>
                <a:cubicBezTo>
                  <a:pt x="285750" y="7962"/>
                  <a:pt x="277788" y="0"/>
                  <a:pt x="267891" y="0"/>
                </a:cubicBezTo>
                <a:cubicBezTo>
                  <a:pt x="257994" y="0"/>
                  <a:pt x="250031" y="7962"/>
                  <a:pt x="250031" y="17859"/>
                </a:cubicBezTo>
                <a:lnTo>
                  <a:pt x="250031" y="47625"/>
                </a:lnTo>
                <a:lnTo>
                  <a:pt x="208359" y="47625"/>
                </a:lnTo>
                <a:lnTo>
                  <a:pt x="208359" y="17859"/>
                </a:lnTo>
                <a:cubicBezTo>
                  <a:pt x="208359" y="7962"/>
                  <a:pt x="200397" y="0"/>
                  <a:pt x="190500" y="0"/>
                </a:cubicBezTo>
                <a:cubicBezTo>
                  <a:pt x="180603" y="0"/>
                  <a:pt x="172641" y="7962"/>
                  <a:pt x="172641" y="17859"/>
                </a:cubicBezTo>
                <a:lnTo>
                  <a:pt x="172641" y="47625"/>
                </a:lnTo>
                <a:lnTo>
                  <a:pt x="130969" y="47625"/>
                </a:lnTo>
                <a:lnTo>
                  <a:pt x="130969" y="17859"/>
                </a:lnTo>
                <a:close/>
                <a:moveTo>
                  <a:pt x="119063" y="95250"/>
                </a:moveTo>
                <a:lnTo>
                  <a:pt x="261938" y="95250"/>
                </a:lnTo>
                <a:cubicBezTo>
                  <a:pt x="275109" y="95250"/>
                  <a:pt x="285750" y="105891"/>
                  <a:pt x="285750" y="119063"/>
                </a:cubicBezTo>
                <a:lnTo>
                  <a:pt x="285750" y="261938"/>
                </a:lnTo>
                <a:cubicBezTo>
                  <a:pt x="285750" y="275109"/>
                  <a:pt x="275109" y="285750"/>
                  <a:pt x="261938" y="285750"/>
                </a:cubicBezTo>
                <a:lnTo>
                  <a:pt x="119063" y="285750"/>
                </a:lnTo>
                <a:cubicBezTo>
                  <a:pt x="105891" y="285750"/>
                  <a:pt x="95250" y="275109"/>
                  <a:pt x="95250" y="261938"/>
                </a:cubicBezTo>
                <a:lnTo>
                  <a:pt x="95250" y="119063"/>
                </a:lnTo>
                <a:cubicBezTo>
                  <a:pt x="95250" y="105891"/>
                  <a:pt x="105891" y="95250"/>
                  <a:pt x="119063" y="95250"/>
                </a:cubicBezTo>
                <a:close/>
                <a:moveTo>
                  <a:pt x="130969" y="130969"/>
                </a:moveTo>
                <a:lnTo>
                  <a:pt x="130969" y="250031"/>
                </a:lnTo>
                <a:lnTo>
                  <a:pt x="250031" y="250031"/>
                </a:lnTo>
                <a:lnTo>
                  <a:pt x="250031" y="130969"/>
                </a:lnTo>
                <a:lnTo>
                  <a:pt x="130969" y="1309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1337649" y="3901642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算力门槛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128" y="4358770"/>
            <a:ext cx="3289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GPU资源稀缺导致</a:t>
            </a:r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4A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训练成本指数级上升 </a:t>
            </a:r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，高昂的前期投入令企业望而却步。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250170" y="3038259"/>
            <a:ext cx="3695700" cy="2400300"/>
          </a:xfrm>
          <a:custGeom>
            <a:avLst/>
            <a:gdLst/>
            <a:ahLst/>
            <a:cxnLst/>
            <a:rect l="l" t="t" r="r" b="b"/>
            <a:pathLst>
              <a:path w="3695700" h="2400300">
                <a:moveTo>
                  <a:pt x="152395" y="0"/>
                </a:moveTo>
                <a:lnTo>
                  <a:pt x="3543305" y="0"/>
                </a:lnTo>
                <a:cubicBezTo>
                  <a:pt x="3627470" y="0"/>
                  <a:pt x="3695700" y="68230"/>
                  <a:pt x="3695700" y="152395"/>
                </a:cubicBezTo>
                <a:lnTo>
                  <a:pt x="3695700" y="2247905"/>
                </a:lnTo>
                <a:cubicBezTo>
                  <a:pt x="3695700" y="2332070"/>
                  <a:pt x="3627470" y="2400300"/>
                  <a:pt x="3543305" y="2400300"/>
                </a:cubicBezTo>
                <a:lnTo>
                  <a:pt x="152395" y="2400300"/>
                </a:lnTo>
                <a:cubicBezTo>
                  <a:pt x="68230" y="2400300"/>
                  <a:pt x="0" y="2332070"/>
                  <a:pt x="0" y="224790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A8D0F5">
              <a:alpha val="20000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89564" y="3241387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3" name="Shape 9"/>
          <p:cNvSpPr/>
          <p:nvPr/>
        </p:nvSpPr>
        <p:spPr>
          <a:xfrm>
            <a:off x="5860869" y="3457142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0"/>
          <p:cNvSpPr/>
          <p:nvPr/>
        </p:nvSpPr>
        <p:spPr>
          <a:xfrm>
            <a:off x="5206819" y="4206334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工程复杂度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453298" y="4663462"/>
            <a:ext cx="3289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模型微调、提示工程、服务编排等环节叠加，</a:t>
            </a:r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4A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链路冗长且复杂 </a:t>
            </a:r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246341" y="2733566"/>
            <a:ext cx="3695700" cy="2400300"/>
          </a:xfrm>
          <a:custGeom>
            <a:avLst/>
            <a:gdLst/>
            <a:ahLst/>
            <a:cxnLst/>
            <a:rect l="l" t="t" r="r" b="b"/>
            <a:pathLst>
              <a:path w="3695700" h="2400300">
                <a:moveTo>
                  <a:pt x="152395" y="0"/>
                </a:moveTo>
                <a:lnTo>
                  <a:pt x="3543305" y="0"/>
                </a:lnTo>
                <a:cubicBezTo>
                  <a:pt x="3627470" y="0"/>
                  <a:pt x="3695700" y="68230"/>
                  <a:pt x="3695700" y="152395"/>
                </a:cubicBezTo>
                <a:lnTo>
                  <a:pt x="3695700" y="2247905"/>
                </a:lnTo>
                <a:cubicBezTo>
                  <a:pt x="3695700" y="2332070"/>
                  <a:pt x="3627470" y="2400300"/>
                  <a:pt x="3543305" y="2400300"/>
                </a:cubicBezTo>
                <a:lnTo>
                  <a:pt x="152395" y="2400300"/>
                </a:lnTo>
                <a:cubicBezTo>
                  <a:pt x="68230" y="2400300"/>
                  <a:pt x="0" y="2332070"/>
                  <a:pt x="0" y="224790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A8D0F5">
              <a:alpha val="20000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85734" y="2936694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8" name="Shape 14"/>
          <p:cNvSpPr/>
          <p:nvPr/>
        </p:nvSpPr>
        <p:spPr>
          <a:xfrm>
            <a:off x="9904664" y="3152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193923" y="0"/>
                  <a:pt x="197346" y="744"/>
                  <a:pt x="200471" y="2158"/>
                </a:cubicBezTo>
                <a:lnTo>
                  <a:pt x="340668" y="61615"/>
                </a:lnTo>
                <a:cubicBezTo>
                  <a:pt x="357039" y="68535"/>
                  <a:pt x="369243" y="84683"/>
                  <a:pt x="369168" y="104180"/>
                </a:cubicBezTo>
                <a:cubicBezTo>
                  <a:pt x="368796" y="177998"/>
                  <a:pt x="338435" y="313060"/>
                  <a:pt x="210220" y="374452"/>
                </a:cubicBezTo>
                <a:cubicBezTo>
                  <a:pt x="197793" y="380405"/>
                  <a:pt x="183356" y="380405"/>
                  <a:pt x="170929" y="374452"/>
                </a:cubicBezTo>
                <a:cubicBezTo>
                  <a:pt x="42639" y="313060"/>
                  <a:pt x="12353" y="177998"/>
                  <a:pt x="11981" y="104180"/>
                </a:cubicBezTo>
                <a:cubicBezTo>
                  <a:pt x="11906" y="84683"/>
                  <a:pt x="24110" y="68535"/>
                  <a:pt x="40481" y="61615"/>
                </a:cubicBezTo>
                <a:lnTo>
                  <a:pt x="180603" y="2158"/>
                </a:lnTo>
                <a:cubicBezTo>
                  <a:pt x="183728" y="744"/>
                  <a:pt x="187077" y="0"/>
                  <a:pt x="190500" y="0"/>
                </a:cubicBezTo>
                <a:close/>
                <a:moveTo>
                  <a:pt x="190500" y="49709"/>
                </a:moveTo>
                <a:lnTo>
                  <a:pt x="190500" y="331068"/>
                </a:lnTo>
                <a:cubicBezTo>
                  <a:pt x="293191" y="281360"/>
                  <a:pt x="320799" y="171227"/>
                  <a:pt x="321469" y="105296"/>
                </a:cubicBezTo>
                <a:lnTo>
                  <a:pt x="190500" y="49783"/>
                </a:lnTo>
                <a:lnTo>
                  <a:pt x="190500" y="4978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5"/>
          <p:cNvSpPr/>
          <p:nvPr/>
        </p:nvSpPr>
        <p:spPr>
          <a:xfrm>
            <a:off x="9329989" y="3901642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合规风险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449469" y="4358770"/>
            <a:ext cx="3289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数据跨境、隐私泄露、算法偏见等问题</a:t>
            </a:r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4A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放大了合规压力 </a:t>
            </a:r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7435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阿里云AI原生框架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70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>    </p:cNvPr>
          <p:cNvPicPr>
            <a:picLocks noChangeAspect="1"/>
          </p:cNvPicPr>
          <p:nvPr/>
        </p:nvPicPr>
        <p:blipFill>
          <a:blip r:embed="rId2"/>
          <a:srcRect l="0" r="0" t="1192" b="1192"/>
          <a:stretch/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>    </p:cNvPr>
          <p:cNvPicPr>
            <a:picLocks noChangeAspect="1"/>
          </p:cNvPicPr>
          <p:nvPr/>
        </p:nvPicPr>
        <p:blipFill>
          <a:blip r:embed="rId3"/>
          <a:srcRect l="0" r="0" t="22162" b="0"/>
          <a:stretch/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>    </p:cNvPr>
          <p:cNvPicPr>
            <a:picLocks noChangeAspect="1"/>
          </p:cNvPicPr>
          <p:nvPr/>
        </p:nvPicPr>
        <p:blipFill>
          <a:blip r:embed="rId4">
            <a:alphaModFix amt="30000"/>
          </a:blip>
          <a:srcRect l="0" r="0" t="22162" b="0"/>
          <a:stretch/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4000" y="254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通义大模型家族全景图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54000" y="812691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7BD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所有模型通过统一API网关开放，企业可按需调用、组合微调，形成场景专属模型。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54000" y="2641383"/>
            <a:ext cx="3708400" cy="2743200"/>
          </a:xfrm>
          <a:custGeom>
            <a:avLst/>
            <a:gdLst/>
            <a:ahLst/>
            <a:cxnLst/>
            <a:rect l="l" t="t" r="r" b="b"/>
            <a:pathLst>
              <a:path w="3708400" h="2743200">
                <a:moveTo>
                  <a:pt x="152412" y="0"/>
                </a:moveTo>
                <a:lnTo>
                  <a:pt x="3555988" y="0"/>
                </a:lnTo>
                <a:cubicBezTo>
                  <a:pt x="3640163" y="0"/>
                  <a:pt x="3708400" y="68237"/>
                  <a:pt x="3708400" y="152412"/>
                </a:cubicBezTo>
                <a:lnTo>
                  <a:pt x="3708400" y="2590788"/>
                </a:lnTo>
                <a:cubicBezTo>
                  <a:pt x="3708400" y="2674963"/>
                  <a:pt x="3640163" y="2743200"/>
                  <a:pt x="3555988" y="2743200"/>
                </a:cubicBezTo>
                <a:lnTo>
                  <a:pt x="152412" y="2743200"/>
                </a:lnTo>
                <a:cubicBezTo>
                  <a:pt x="68237" y="2743200"/>
                  <a:pt x="0" y="2674963"/>
                  <a:pt x="0" y="25907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 w="23091">
            <a:solidFill>
              <a:srgbClr val="A8D0F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790664" y="3174819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57200" y="171450"/>
                </a:moveTo>
                <a:cubicBezTo>
                  <a:pt x="457200" y="287179"/>
                  <a:pt x="354806" y="381000"/>
                  <a:pt x="228600" y="381000"/>
                </a:cubicBezTo>
                <a:cubicBezTo>
                  <a:pt x="196810" y="381000"/>
                  <a:pt x="166568" y="375047"/>
                  <a:pt x="139065" y="364331"/>
                </a:cubicBezTo>
                <a:lnTo>
                  <a:pt x="41910" y="415766"/>
                </a:lnTo>
                <a:cubicBezTo>
                  <a:pt x="30837" y="421600"/>
                  <a:pt x="17264" y="419576"/>
                  <a:pt x="8334" y="410766"/>
                </a:cubicBezTo>
                <a:cubicBezTo>
                  <a:pt x="-595" y="401955"/>
                  <a:pt x="-2619" y="388263"/>
                  <a:pt x="3334" y="377190"/>
                </a:cubicBezTo>
                <a:lnTo>
                  <a:pt x="45720" y="297180"/>
                </a:lnTo>
                <a:cubicBezTo>
                  <a:pt x="17026" y="262176"/>
                  <a:pt x="0" y="218599"/>
                  <a:pt x="0" y="171450"/>
                </a:cubicBezTo>
                <a:cubicBezTo>
                  <a:pt x="0" y="55721"/>
                  <a:pt x="102394" y="-38100"/>
                  <a:pt x="228600" y="-38100"/>
                </a:cubicBezTo>
                <a:cubicBezTo>
                  <a:pt x="354806" y="-38100"/>
                  <a:pt x="457200" y="55721"/>
                  <a:pt x="457200" y="171450"/>
                </a:cubicBezTo>
                <a:close/>
                <a:moveTo>
                  <a:pt x="457200" y="609600"/>
                </a:moveTo>
                <a:cubicBezTo>
                  <a:pt x="345162" y="609600"/>
                  <a:pt x="251936" y="535662"/>
                  <a:pt x="232410" y="438150"/>
                </a:cubicBezTo>
                <a:cubicBezTo>
                  <a:pt x="375285" y="436364"/>
                  <a:pt x="499467" y="334685"/>
                  <a:pt x="513159" y="196810"/>
                </a:cubicBezTo>
                <a:cubicBezTo>
                  <a:pt x="612338" y="219670"/>
                  <a:pt x="685800" y="301943"/>
                  <a:pt x="685800" y="400050"/>
                </a:cubicBezTo>
                <a:cubicBezTo>
                  <a:pt x="685800" y="447199"/>
                  <a:pt x="668774" y="490776"/>
                  <a:pt x="640080" y="525780"/>
                </a:cubicBezTo>
                <a:lnTo>
                  <a:pt x="682466" y="605790"/>
                </a:lnTo>
                <a:cubicBezTo>
                  <a:pt x="688300" y="616863"/>
                  <a:pt x="686276" y="630436"/>
                  <a:pt x="677466" y="639366"/>
                </a:cubicBezTo>
                <a:cubicBezTo>
                  <a:pt x="668655" y="648295"/>
                  <a:pt x="654963" y="650319"/>
                  <a:pt x="643890" y="644366"/>
                </a:cubicBezTo>
                <a:lnTo>
                  <a:pt x="546735" y="592931"/>
                </a:lnTo>
                <a:cubicBezTo>
                  <a:pt x="519232" y="603647"/>
                  <a:pt x="488990" y="609600"/>
                  <a:pt x="457200" y="609600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8" name="Text 4"/>
          <p:cNvSpPr/>
          <p:nvPr/>
        </p:nvSpPr>
        <p:spPr>
          <a:xfrm>
            <a:off x="1625564" y="3936639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通义千问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80219" y="4393766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覆盖1.8B到72B参数规模，提供强大的通用语言理解与生成能力。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216436" y="2387383"/>
            <a:ext cx="3708400" cy="3251200"/>
          </a:xfrm>
          <a:custGeom>
            <a:avLst/>
            <a:gdLst/>
            <a:ahLst/>
            <a:cxnLst/>
            <a:rect l="l" t="t" r="r" b="b"/>
            <a:pathLst>
              <a:path w="3708400" h="3251200">
                <a:moveTo>
                  <a:pt x="152416" y="0"/>
                </a:moveTo>
                <a:lnTo>
                  <a:pt x="3555984" y="0"/>
                </a:lnTo>
                <a:cubicBezTo>
                  <a:pt x="3640161" y="0"/>
                  <a:pt x="3708400" y="68239"/>
                  <a:pt x="3708400" y="152416"/>
                </a:cubicBezTo>
                <a:lnTo>
                  <a:pt x="3708400" y="3098784"/>
                </a:lnTo>
                <a:cubicBezTo>
                  <a:pt x="3708400" y="3182961"/>
                  <a:pt x="3640161" y="3251200"/>
                  <a:pt x="3555984" y="3251200"/>
                </a:cubicBezTo>
                <a:lnTo>
                  <a:pt x="152416" y="3251200"/>
                </a:lnTo>
                <a:cubicBezTo>
                  <a:pt x="68239" y="3251200"/>
                  <a:pt x="0" y="3182961"/>
                  <a:pt x="0" y="3098784"/>
                </a:cubicBezTo>
                <a:lnTo>
                  <a:pt x="0" y="152416"/>
                </a:lnTo>
                <a:cubicBezTo>
                  <a:pt x="0" y="68295"/>
                  <a:pt x="68295" y="0"/>
                  <a:pt x="152416" y="0"/>
                </a:cubicBezTo>
                <a:close/>
              </a:path>
            </a:pathLst>
          </a:custGeom>
          <a:solidFill>
            <a:srgbClr val="3A7BD5">
              <a:alpha val="30196"/>
            </a:srgbClr>
          </a:solidFill>
          <a:ln w="23091">
            <a:solidFill>
              <a:srgbClr val="3A7BD5"/>
            </a:solidFill>
            <a:prstDash val="solid"/>
          </a:ln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762625" y="3022564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95250" y="47625"/>
                </a:moveTo>
                <a:cubicBezTo>
                  <a:pt x="42714" y="47625"/>
                  <a:pt x="0" y="90339"/>
                  <a:pt x="0" y="142875"/>
                </a:cubicBezTo>
                <a:lnTo>
                  <a:pt x="0" y="619125"/>
                </a:lnTo>
                <a:cubicBezTo>
                  <a:pt x="0" y="671661"/>
                  <a:pt x="42714" y="714375"/>
                  <a:pt x="95250" y="714375"/>
                </a:cubicBezTo>
                <a:lnTo>
                  <a:pt x="571500" y="714375"/>
                </a:lnTo>
                <a:cubicBezTo>
                  <a:pt x="624036" y="714375"/>
                  <a:pt x="666750" y="671661"/>
                  <a:pt x="666750" y="619125"/>
                </a:cubicBezTo>
                <a:lnTo>
                  <a:pt x="666750" y="142875"/>
                </a:lnTo>
                <a:cubicBezTo>
                  <a:pt x="666750" y="90339"/>
                  <a:pt x="624036" y="47625"/>
                  <a:pt x="571500" y="47625"/>
                </a:cubicBezTo>
                <a:lnTo>
                  <a:pt x="95250" y="47625"/>
                </a:lnTo>
                <a:close/>
                <a:moveTo>
                  <a:pt x="190500" y="166688"/>
                </a:moveTo>
                <a:cubicBezTo>
                  <a:pt x="229927" y="166688"/>
                  <a:pt x="261938" y="198698"/>
                  <a:pt x="261938" y="238125"/>
                </a:cubicBezTo>
                <a:cubicBezTo>
                  <a:pt x="261938" y="277552"/>
                  <a:pt x="229927" y="309563"/>
                  <a:pt x="190500" y="309563"/>
                </a:cubicBezTo>
                <a:cubicBezTo>
                  <a:pt x="151073" y="309563"/>
                  <a:pt x="119063" y="277552"/>
                  <a:pt x="119063" y="238125"/>
                </a:cubicBezTo>
                <a:cubicBezTo>
                  <a:pt x="119063" y="198698"/>
                  <a:pt x="151073" y="166688"/>
                  <a:pt x="190500" y="166688"/>
                </a:cubicBezTo>
                <a:close/>
                <a:moveTo>
                  <a:pt x="404813" y="333375"/>
                </a:moveTo>
                <a:cubicBezTo>
                  <a:pt x="417314" y="333375"/>
                  <a:pt x="428774" y="339923"/>
                  <a:pt x="435322" y="350490"/>
                </a:cubicBezTo>
                <a:lnTo>
                  <a:pt x="566291" y="564803"/>
                </a:lnTo>
                <a:cubicBezTo>
                  <a:pt x="572988" y="575816"/>
                  <a:pt x="573286" y="589657"/>
                  <a:pt x="567035" y="600968"/>
                </a:cubicBezTo>
                <a:cubicBezTo>
                  <a:pt x="560784" y="612279"/>
                  <a:pt x="548729" y="619125"/>
                  <a:pt x="535781" y="619125"/>
                </a:cubicBezTo>
                <a:lnTo>
                  <a:pt x="130969" y="619125"/>
                </a:lnTo>
                <a:cubicBezTo>
                  <a:pt x="117723" y="619125"/>
                  <a:pt x="105370" y="611684"/>
                  <a:pt x="99268" y="599926"/>
                </a:cubicBezTo>
                <a:cubicBezTo>
                  <a:pt x="93166" y="588169"/>
                  <a:pt x="94059" y="573881"/>
                  <a:pt x="101650" y="563017"/>
                </a:cubicBezTo>
                <a:lnTo>
                  <a:pt x="184993" y="443954"/>
                </a:lnTo>
                <a:cubicBezTo>
                  <a:pt x="191691" y="434429"/>
                  <a:pt x="202555" y="428774"/>
                  <a:pt x="214313" y="428774"/>
                </a:cubicBezTo>
                <a:cubicBezTo>
                  <a:pt x="226070" y="428774"/>
                  <a:pt x="236934" y="434429"/>
                  <a:pt x="243632" y="443954"/>
                </a:cubicBezTo>
                <a:lnTo>
                  <a:pt x="282922" y="500211"/>
                </a:lnTo>
                <a:lnTo>
                  <a:pt x="374303" y="350639"/>
                </a:lnTo>
                <a:cubicBezTo>
                  <a:pt x="380851" y="340072"/>
                  <a:pt x="392311" y="333524"/>
                  <a:pt x="404813" y="333524"/>
                </a:cubicBezTo>
                <a:close/>
              </a:path>
            </a:pathLst>
          </a:custGeom>
          <a:solidFill>
            <a:srgbClr val="004080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36" y="3936819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通义万相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42655" y="4444819"/>
            <a:ext cx="330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专注跨模态图文创作，支持中文美学场景，赋能创意内容生产。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178872" y="2641383"/>
            <a:ext cx="3708400" cy="2743200"/>
          </a:xfrm>
          <a:custGeom>
            <a:avLst/>
            <a:gdLst/>
            <a:ahLst/>
            <a:cxnLst/>
            <a:rect l="l" t="t" r="r" b="b"/>
            <a:pathLst>
              <a:path w="3708400" h="2743200">
                <a:moveTo>
                  <a:pt x="152412" y="0"/>
                </a:moveTo>
                <a:lnTo>
                  <a:pt x="3555988" y="0"/>
                </a:lnTo>
                <a:cubicBezTo>
                  <a:pt x="3640163" y="0"/>
                  <a:pt x="3708400" y="68237"/>
                  <a:pt x="3708400" y="152412"/>
                </a:cubicBezTo>
                <a:lnTo>
                  <a:pt x="3708400" y="2590788"/>
                </a:lnTo>
                <a:cubicBezTo>
                  <a:pt x="3708400" y="2674963"/>
                  <a:pt x="3640163" y="2743200"/>
                  <a:pt x="3555988" y="2743200"/>
                </a:cubicBezTo>
                <a:lnTo>
                  <a:pt x="152412" y="2743200"/>
                </a:lnTo>
                <a:cubicBezTo>
                  <a:pt x="68237" y="2743200"/>
                  <a:pt x="0" y="2674963"/>
                  <a:pt x="0" y="25907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 w="23091">
            <a:solidFill>
              <a:srgbClr val="A8D0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791736" y="3174819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266700"/>
                </a:moveTo>
                <a:cubicBezTo>
                  <a:pt x="76200" y="161449"/>
                  <a:pt x="161449" y="76200"/>
                  <a:pt x="266700" y="76200"/>
                </a:cubicBezTo>
                <a:cubicBezTo>
                  <a:pt x="371951" y="76200"/>
                  <a:pt x="457200" y="161449"/>
                  <a:pt x="457200" y="266700"/>
                </a:cubicBezTo>
                <a:lnTo>
                  <a:pt x="457200" y="311348"/>
                </a:lnTo>
                <a:cubicBezTo>
                  <a:pt x="445294" y="307181"/>
                  <a:pt x="432435" y="304800"/>
                  <a:pt x="419100" y="304800"/>
                </a:cubicBezTo>
                <a:lnTo>
                  <a:pt x="400050" y="304800"/>
                </a:lnTo>
                <a:cubicBezTo>
                  <a:pt x="368498" y="304800"/>
                  <a:pt x="342900" y="330398"/>
                  <a:pt x="342900" y="361950"/>
                </a:cubicBezTo>
                <a:lnTo>
                  <a:pt x="342900" y="514350"/>
                </a:lnTo>
                <a:cubicBezTo>
                  <a:pt x="342900" y="545902"/>
                  <a:pt x="368498" y="571500"/>
                  <a:pt x="400050" y="571500"/>
                </a:cubicBezTo>
                <a:lnTo>
                  <a:pt x="419100" y="571500"/>
                </a:lnTo>
                <a:cubicBezTo>
                  <a:pt x="482203" y="571500"/>
                  <a:pt x="533400" y="520303"/>
                  <a:pt x="533400" y="457200"/>
                </a:cubicBezTo>
                <a:lnTo>
                  <a:pt x="533400" y="266700"/>
                </a:lnTo>
                <a:cubicBezTo>
                  <a:pt x="533400" y="119420"/>
                  <a:pt x="413980" y="0"/>
                  <a:pt x="266700" y="0"/>
                </a:cubicBezTo>
                <a:cubicBezTo>
                  <a:pt x="119420" y="0"/>
                  <a:pt x="0" y="119420"/>
                  <a:pt x="0" y="266700"/>
                </a:cubicBezTo>
                <a:lnTo>
                  <a:pt x="0" y="457200"/>
                </a:lnTo>
                <a:cubicBezTo>
                  <a:pt x="0" y="520303"/>
                  <a:pt x="51197" y="571500"/>
                  <a:pt x="114300" y="571500"/>
                </a:cubicBezTo>
                <a:lnTo>
                  <a:pt x="133350" y="571500"/>
                </a:lnTo>
                <a:cubicBezTo>
                  <a:pt x="164902" y="571500"/>
                  <a:pt x="190500" y="545902"/>
                  <a:pt x="190500" y="514350"/>
                </a:cubicBezTo>
                <a:lnTo>
                  <a:pt x="190500" y="361950"/>
                </a:lnTo>
                <a:cubicBezTo>
                  <a:pt x="190500" y="330398"/>
                  <a:pt x="164902" y="304800"/>
                  <a:pt x="133350" y="304800"/>
                </a:cubicBezTo>
                <a:lnTo>
                  <a:pt x="114300" y="304800"/>
                </a:lnTo>
                <a:cubicBezTo>
                  <a:pt x="100965" y="304800"/>
                  <a:pt x="88106" y="307062"/>
                  <a:pt x="76200" y="311348"/>
                </a:cubicBezTo>
                <a:lnTo>
                  <a:pt x="76200" y="266700"/>
                </a:ln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6" name="Text 12"/>
          <p:cNvSpPr/>
          <p:nvPr/>
        </p:nvSpPr>
        <p:spPr>
          <a:xfrm>
            <a:off x="9550436" y="3936639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通义听悟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405091" y="4393766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聚焦音视频转写与摘要，面向会议、客服、媒体等专业场景。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4000" y="2108850"/>
            <a:ext cx="518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as a Service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54000" y="2769104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模型即服务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54000" y="3429360"/>
            <a:ext cx="46736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阿里云提出MaaS理念，将大模型封装成可计量、可编排的云服务。开发者无需自建GPU集群，即可在云端完成从数据到模型的全链路开发，并按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4A4A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Token计费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，将AI成本转化为可预测的运营支出。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333819" y="2127250"/>
            <a:ext cx="6604000" cy="1181100"/>
          </a:xfrm>
          <a:custGeom>
            <a:avLst/>
            <a:gdLst/>
            <a:ahLst/>
            <a:cxnLst/>
            <a:rect l="l" t="t" r="r" b="b"/>
            <a:pathLst>
              <a:path w="6604000" h="1181100">
                <a:moveTo>
                  <a:pt x="101598" y="0"/>
                </a:moveTo>
                <a:lnTo>
                  <a:pt x="6502402" y="0"/>
                </a:lnTo>
                <a:cubicBezTo>
                  <a:pt x="6558513" y="0"/>
                  <a:pt x="6604000" y="45487"/>
                  <a:pt x="6604000" y="101598"/>
                </a:cubicBezTo>
                <a:lnTo>
                  <a:pt x="6604000" y="1079502"/>
                </a:lnTo>
                <a:cubicBezTo>
                  <a:pt x="6604000" y="1135613"/>
                  <a:pt x="6558513" y="1181100"/>
                  <a:pt x="6502402" y="1181100"/>
                </a:cubicBezTo>
                <a:lnTo>
                  <a:pt x="101598" y="1181100"/>
                </a:lnTo>
                <a:cubicBezTo>
                  <a:pt x="45487" y="1181100"/>
                  <a:pt x="0" y="1135613"/>
                  <a:pt x="0" y="1079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779871" y="2330377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33375" y="153144"/>
                </a:moveTo>
                <a:cubicBezTo>
                  <a:pt x="322362" y="160437"/>
                  <a:pt x="309711" y="166315"/>
                  <a:pt x="296540" y="171004"/>
                </a:cubicBezTo>
                <a:cubicBezTo>
                  <a:pt x="261565" y="183505"/>
                  <a:pt x="215652" y="190500"/>
                  <a:pt x="166688" y="190500"/>
                </a:cubicBezTo>
                <a:cubicBezTo>
                  <a:pt x="117723" y="190500"/>
                  <a:pt x="71735" y="183431"/>
                  <a:pt x="36835" y="171004"/>
                </a:cubicBezTo>
                <a:cubicBezTo>
                  <a:pt x="23738" y="166315"/>
                  <a:pt x="11013" y="160437"/>
                  <a:pt x="0" y="153144"/>
                </a:cubicBezTo>
                <a:lnTo>
                  <a:pt x="0" y="214313"/>
                </a:lnTo>
                <a:cubicBezTo>
                  <a:pt x="0" y="247204"/>
                  <a:pt x="74637" y="273844"/>
                  <a:pt x="166688" y="273844"/>
                </a:cubicBezTo>
                <a:cubicBezTo>
                  <a:pt x="258738" y="273844"/>
                  <a:pt x="333375" y="247204"/>
                  <a:pt x="333375" y="214313"/>
                </a:cubicBezTo>
                <a:lnTo>
                  <a:pt x="333375" y="153144"/>
                </a:lnTo>
                <a:close/>
                <a:moveTo>
                  <a:pt x="333375" y="95250"/>
                </a:moveTo>
                <a:lnTo>
                  <a:pt x="333375" y="59531"/>
                </a:lnTo>
                <a:cubicBezTo>
                  <a:pt x="333375" y="26640"/>
                  <a:pt x="258738" y="0"/>
                  <a:pt x="166688" y="0"/>
                </a:cubicBezTo>
                <a:cubicBezTo>
                  <a:pt x="74637" y="0"/>
                  <a:pt x="0" y="26640"/>
                  <a:pt x="0" y="59531"/>
                </a:cubicBezTo>
                <a:lnTo>
                  <a:pt x="0" y="95250"/>
                </a:lnTo>
                <a:cubicBezTo>
                  <a:pt x="0" y="128141"/>
                  <a:pt x="74637" y="154781"/>
                  <a:pt x="166688" y="154781"/>
                </a:cubicBezTo>
                <a:cubicBezTo>
                  <a:pt x="258738" y="154781"/>
                  <a:pt x="333375" y="128141"/>
                  <a:pt x="333375" y="95250"/>
                </a:cubicBezTo>
                <a:close/>
                <a:moveTo>
                  <a:pt x="296540" y="290066"/>
                </a:moveTo>
                <a:cubicBezTo>
                  <a:pt x="261640" y="302493"/>
                  <a:pt x="215726" y="309563"/>
                  <a:pt x="166688" y="309563"/>
                </a:cubicBezTo>
                <a:cubicBezTo>
                  <a:pt x="117649" y="309563"/>
                  <a:pt x="71735" y="302493"/>
                  <a:pt x="36835" y="290066"/>
                </a:cubicBezTo>
                <a:cubicBezTo>
                  <a:pt x="23738" y="285378"/>
                  <a:pt x="11013" y="279499"/>
                  <a:pt x="0" y="272207"/>
                </a:cubicBezTo>
                <a:lnTo>
                  <a:pt x="0" y="321469"/>
                </a:lnTo>
                <a:cubicBezTo>
                  <a:pt x="0" y="354360"/>
                  <a:pt x="74637" y="381000"/>
                  <a:pt x="166688" y="381000"/>
                </a:cubicBezTo>
                <a:cubicBezTo>
                  <a:pt x="258738" y="381000"/>
                  <a:pt x="333375" y="354360"/>
                  <a:pt x="333375" y="321469"/>
                </a:cubicBezTo>
                <a:lnTo>
                  <a:pt x="333375" y="272207"/>
                </a:lnTo>
                <a:cubicBezTo>
                  <a:pt x="322362" y="279499"/>
                  <a:pt x="309711" y="285378"/>
                  <a:pt x="296540" y="290066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9" name="Text 5"/>
          <p:cNvSpPr/>
          <p:nvPr/>
        </p:nvSpPr>
        <p:spPr>
          <a:xfrm>
            <a:off x="5282947" y="2801215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数据标注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691529" y="25656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1" name="Shape 7"/>
          <p:cNvSpPr/>
          <p:nvPr/>
        </p:nvSpPr>
        <p:spPr>
          <a:xfrm>
            <a:off x="7509524" y="2330377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2" name="Text 8"/>
          <p:cNvSpPr/>
          <p:nvPr/>
        </p:nvSpPr>
        <p:spPr>
          <a:xfrm>
            <a:off x="7084038" y="2801215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模型微调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492620" y="25656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4" name="Shape 10"/>
          <p:cNvSpPr/>
          <p:nvPr/>
        </p:nvSpPr>
        <p:spPr>
          <a:xfrm>
            <a:off x="9372672" y="2330377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14313" y="0"/>
                </a:moveTo>
                <a:lnTo>
                  <a:pt x="95250" y="0"/>
                </a:lnTo>
                <a:cubicBezTo>
                  <a:pt x="82079" y="0"/>
                  <a:pt x="71438" y="10641"/>
                  <a:pt x="71438" y="23812"/>
                </a:cubicBezTo>
                <a:cubicBezTo>
                  <a:pt x="71438" y="36984"/>
                  <a:pt x="82079" y="47625"/>
                  <a:pt x="95250" y="47625"/>
                </a:cubicBezTo>
                <a:lnTo>
                  <a:pt x="95250" y="160362"/>
                </a:lnTo>
                <a:lnTo>
                  <a:pt x="5581" y="317227"/>
                </a:lnTo>
                <a:cubicBezTo>
                  <a:pt x="1935" y="323701"/>
                  <a:pt x="0" y="330919"/>
                  <a:pt x="0" y="338361"/>
                </a:cubicBezTo>
                <a:cubicBezTo>
                  <a:pt x="0" y="361950"/>
                  <a:pt x="19050" y="381000"/>
                  <a:pt x="42639" y="381000"/>
                </a:cubicBezTo>
                <a:lnTo>
                  <a:pt x="290736" y="381000"/>
                </a:lnTo>
                <a:cubicBezTo>
                  <a:pt x="314251" y="381000"/>
                  <a:pt x="333375" y="361950"/>
                  <a:pt x="333375" y="338361"/>
                </a:cubicBezTo>
                <a:cubicBezTo>
                  <a:pt x="333375" y="330919"/>
                  <a:pt x="331440" y="323627"/>
                  <a:pt x="327794" y="317227"/>
                </a:cubicBezTo>
                <a:lnTo>
                  <a:pt x="238125" y="160362"/>
                </a:lnTo>
                <a:lnTo>
                  <a:pt x="238125" y="47625"/>
                </a:lnTo>
                <a:cubicBezTo>
                  <a:pt x="251296" y="47625"/>
                  <a:pt x="261938" y="36984"/>
                  <a:pt x="261938" y="23812"/>
                </a:cubicBezTo>
                <a:cubicBezTo>
                  <a:pt x="261938" y="10641"/>
                  <a:pt x="251296" y="0"/>
                  <a:pt x="238125" y="0"/>
                </a:cubicBezTo>
                <a:lnTo>
                  <a:pt x="214313" y="0"/>
                </a:lnTo>
                <a:close/>
                <a:moveTo>
                  <a:pt x="142875" y="160362"/>
                </a:moveTo>
                <a:lnTo>
                  <a:pt x="142875" y="47625"/>
                </a:lnTo>
                <a:lnTo>
                  <a:pt x="190500" y="47625"/>
                </a:lnTo>
                <a:lnTo>
                  <a:pt x="190500" y="160362"/>
                </a:lnTo>
                <a:cubicBezTo>
                  <a:pt x="190500" y="168622"/>
                  <a:pt x="192658" y="176808"/>
                  <a:pt x="196751" y="184026"/>
                </a:cubicBezTo>
                <a:lnTo>
                  <a:pt x="227707" y="238125"/>
                </a:lnTo>
                <a:lnTo>
                  <a:pt x="105668" y="238125"/>
                </a:lnTo>
                <a:lnTo>
                  <a:pt x="136624" y="184026"/>
                </a:lnTo>
                <a:cubicBezTo>
                  <a:pt x="140717" y="176808"/>
                  <a:pt x="142875" y="168697"/>
                  <a:pt x="142875" y="160362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5" name="Text 11"/>
          <p:cNvSpPr/>
          <p:nvPr/>
        </p:nvSpPr>
        <p:spPr>
          <a:xfrm>
            <a:off x="8885129" y="2801215"/>
            <a:ext cx="130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A/B测试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10275129" y="25656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7" name="Shape 13"/>
          <p:cNvSpPr/>
          <p:nvPr/>
        </p:nvSpPr>
        <p:spPr>
          <a:xfrm>
            <a:off x="11116938" y="2330377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07156" y="357188"/>
                </a:moveTo>
                <a:cubicBezTo>
                  <a:pt x="47997" y="357188"/>
                  <a:pt x="0" y="309190"/>
                  <a:pt x="0" y="250031"/>
                </a:cubicBezTo>
                <a:cubicBezTo>
                  <a:pt x="0" y="202853"/>
                  <a:pt x="30510" y="162818"/>
                  <a:pt x="72851" y="148456"/>
                </a:cubicBezTo>
                <a:cubicBezTo>
                  <a:pt x="71884" y="142726"/>
                  <a:pt x="71438" y="136922"/>
                  <a:pt x="71438" y="130969"/>
                </a:cubicBezTo>
                <a:cubicBezTo>
                  <a:pt x="71438" y="71810"/>
                  <a:pt x="119435" y="23812"/>
                  <a:pt x="178594" y="23812"/>
                </a:cubicBezTo>
                <a:cubicBezTo>
                  <a:pt x="219819" y="23812"/>
                  <a:pt x="255612" y="47104"/>
                  <a:pt x="273546" y="81186"/>
                </a:cubicBezTo>
                <a:cubicBezTo>
                  <a:pt x="284113" y="75009"/>
                  <a:pt x="296466" y="71438"/>
                  <a:pt x="309563" y="71438"/>
                </a:cubicBezTo>
                <a:cubicBezTo>
                  <a:pt x="349002" y="71438"/>
                  <a:pt x="381000" y="103436"/>
                  <a:pt x="381000" y="142875"/>
                </a:cubicBezTo>
                <a:cubicBezTo>
                  <a:pt x="381000" y="154558"/>
                  <a:pt x="378172" y="165646"/>
                  <a:pt x="373187" y="175394"/>
                </a:cubicBezTo>
                <a:cubicBezTo>
                  <a:pt x="405929" y="190500"/>
                  <a:pt x="428625" y="223540"/>
                  <a:pt x="428625" y="261938"/>
                </a:cubicBezTo>
                <a:cubicBezTo>
                  <a:pt x="428625" y="314548"/>
                  <a:pt x="385986" y="357188"/>
                  <a:pt x="333375" y="357188"/>
                </a:cubicBezTo>
                <a:lnTo>
                  <a:pt x="107156" y="357188"/>
                </a:lnTo>
                <a:close/>
                <a:moveTo>
                  <a:pt x="226963" y="142131"/>
                </a:moveTo>
                <a:cubicBezTo>
                  <a:pt x="219968" y="135136"/>
                  <a:pt x="208657" y="135136"/>
                  <a:pt x="201737" y="142131"/>
                </a:cubicBezTo>
                <a:lnTo>
                  <a:pt x="148158" y="195709"/>
                </a:lnTo>
                <a:cubicBezTo>
                  <a:pt x="141163" y="202704"/>
                  <a:pt x="141163" y="214015"/>
                  <a:pt x="148158" y="220935"/>
                </a:cubicBezTo>
                <a:cubicBezTo>
                  <a:pt x="155153" y="227856"/>
                  <a:pt x="166464" y="227930"/>
                  <a:pt x="173385" y="220935"/>
                </a:cubicBezTo>
                <a:lnTo>
                  <a:pt x="196453" y="197867"/>
                </a:lnTo>
                <a:lnTo>
                  <a:pt x="196453" y="273844"/>
                </a:lnTo>
                <a:cubicBezTo>
                  <a:pt x="196453" y="283741"/>
                  <a:pt x="204415" y="291703"/>
                  <a:pt x="214313" y="291703"/>
                </a:cubicBezTo>
                <a:cubicBezTo>
                  <a:pt x="224210" y="291703"/>
                  <a:pt x="232172" y="283741"/>
                  <a:pt x="232172" y="273844"/>
                </a:cubicBezTo>
                <a:lnTo>
                  <a:pt x="232172" y="197867"/>
                </a:lnTo>
                <a:lnTo>
                  <a:pt x="255240" y="220935"/>
                </a:lnTo>
                <a:cubicBezTo>
                  <a:pt x="262235" y="227930"/>
                  <a:pt x="273546" y="227930"/>
                  <a:pt x="280467" y="220935"/>
                </a:cubicBezTo>
                <a:cubicBezTo>
                  <a:pt x="287387" y="213940"/>
                  <a:pt x="287462" y="202629"/>
                  <a:pt x="280467" y="195709"/>
                </a:cubicBezTo>
                <a:lnTo>
                  <a:pt x="226888" y="142131"/>
                </a:ln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8" name="Text 14"/>
          <p:cNvSpPr/>
          <p:nvPr/>
        </p:nvSpPr>
        <p:spPr>
          <a:xfrm>
            <a:off x="10667639" y="2801215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一键部署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333819" y="3613727"/>
            <a:ext cx="6604000" cy="1117600"/>
          </a:xfrm>
          <a:custGeom>
            <a:avLst/>
            <a:gdLst/>
            <a:ahLst/>
            <a:cxnLst/>
            <a:rect l="l" t="t" r="r" b="b"/>
            <a:pathLst>
              <a:path w="6604000" h="1117600">
                <a:moveTo>
                  <a:pt x="101601" y="0"/>
                </a:moveTo>
                <a:lnTo>
                  <a:pt x="6502399" y="0"/>
                </a:lnTo>
                <a:cubicBezTo>
                  <a:pt x="6558512" y="0"/>
                  <a:pt x="6604000" y="45488"/>
                  <a:pt x="6604000" y="101601"/>
                </a:cubicBezTo>
                <a:lnTo>
                  <a:pt x="6604000" y="1015999"/>
                </a:lnTo>
                <a:cubicBezTo>
                  <a:pt x="6604000" y="1072112"/>
                  <a:pt x="6558512" y="1117600"/>
                  <a:pt x="65023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004080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536947" y="3816854"/>
            <a:ext cx="6197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企业可像调用OSS一样调用大模型，实现从0到1快速验证场景价值。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7435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Serverless AI工程化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70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>    </p:cNvPr>
          <p:cNvPicPr>
            <a:picLocks noChangeAspect="1"/>
          </p:cNvPicPr>
          <p:nvPr/>
        </p:nvPicPr>
        <p:blipFill>
          <a:blip r:embed="rId2"/>
          <a:srcRect l="0" r="0" t="1192" b="1192"/>
          <a:stretch/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>    </p:cNvPr>
          <p:cNvPicPr>
            <a:picLocks noChangeAspect="1"/>
          </p:cNvPicPr>
          <p:nvPr/>
        </p:nvPicPr>
        <p:blipFill>
          <a:blip r:embed="rId3"/>
          <a:srcRect l="0" r="0" t="22162" b="0"/>
          <a:stretch/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>    </p:cNvPr>
          <p:cNvPicPr>
            <a:picLocks noChangeAspect="1"/>
          </p:cNvPicPr>
          <p:nvPr/>
        </p:nvPicPr>
        <p:blipFill>
          <a:blip r:embed="rId4">
            <a:alphaModFix amt="30000"/>
          </a:blip>
          <a:srcRect l="0" r="0" t="22162" b="0"/>
          <a:stretch/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4000" y="1360559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函数计算驱动AI推理弹性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54000" y="191925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7BD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毫秒级冷启动与秒级弹性，实现AI应用成本与性能的最优平衡。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03972" y="2680891"/>
            <a:ext cx="4648200" cy="2082800"/>
          </a:xfrm>
          <a:custGeom>
            <a:avLst/>
            <a:gdLst/>
            <a:ahLst/>
            <a:cxnLst/>
            <a:rect l="l" t="t" r="r" b="b"/>
            <a:pathLst>
              <a:path w="4648200" h="2082800">
                <a:moveTo>
                  <a:pt x="101599" y="0"/>
                </a:moveTo>
                <a:lnTo>
                  <a:pt x="4546601" y="0"/>
                </a:lnTo>
                <a:cubicBezTo>
                  <a:pt x="4602713" y="0"/>
                  <a:pt x="4648200" y="45487"/>
                  <a:pt x="4648200" y="101599"/>
                </a:cubicBezTo>
                <a:lnTo>
                  <a:pt x="4648200" y="1981201"/>
                </a:lnTo>
                <a:cubicBezTo>
                  <a:pt x="4648200" y="2037313"/>
                  <a:pt x="4602713" y="2082800"/>
                  <a:pt x="4546601" y="2082800"/>
                </a:cubicBezTo>
                <a:lnTo>
                  <a:pt x="101599" y="2082800"/>
                </a:lnTo>
                <a:cubicBezTo>
                  <a:pt x="45487" y="2082800"/>
                  <a:pt x="0" y="2037313"/>
                  <a:pt x="0" y="19812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8D0F5">
              <a:alpha val="20000"/>
            </a:srgbClr>
          </a:solidFill>
          <a:ln w="11545">
            <a:solidFill>
              <a:srgbClr val="A8D0F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67834" y="304782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79375"/>
                </a:lnTo>
                <a:cubicBezTo>
                  <a:pt x="0" y="96887"/>
                  <a:pt x="14238" y="111125"/>
                  <a:pt x="31750" y="111125"/>
                </a:cubicBezTo>
                <a:lnTo>
                  <a:pt x="190500" y="111125"/>
                </a:lnTo>
                <a:cubicBezTo>
                  <a:pt x="208012" y="111125"/>
                  <a:pt x="222250" y="96887"/>
                  <a:pt x="222250" y="79375"/>
                </a:cubicBezTo>
                <a:lnTo>
                  <a:pt x="222250" y="47625"/>
                </a:lnTo>
                <a:cubicBezTo>
                  <a:pt x="222250" y="30113"/>
                  <a:pt x="208012" y="15875"/>
                  <a:pt x="190500" y="15875"/>
                </a:cubicBezTo>
                <a:lnTo>
                  <a:pt x="31750" y="15875"/>
                </a:lnTo>
                <a:close/>
                <a:moveTo>
                  <a:pt x="138906" y="51594"/>
                </a:moveTo>
                <a:cubicBezTo>
                  <a:pt x="145477" y="51594"/>
                  <a:pt x="150813" y="56929"/>
                  <a:pt x="150813" y="63500"/>
                </a:cubicBezTo>
                <a:cubicBezTo>
                  <a:pt x="150813" y="70071"/>
                  <a:pt x="145477" y="75406"/>
                  <a:pt x="138906" y="75406"/>
                </a:cubicBezTo>
                <a:cubicBezTo>
                  <a:pt x="132335" y="75406"/>
                  <a:pt x="127000" y="70071"/>
                  <a:pt x="127000" y="63500"/>
                </a:cubicBezTo>
                <a:cubicBezTo>
                  <a:pt x="127000" y="56929"/>
                  <a:pt x="132335" y="51594"/>
                  <a:pt x="138906" y="51594"/>
                </a:cubicBezTo>
                <a:close/>
                <a:moveTo>
                  <a:pt x="166688" y="63500"/>
                </a:moveTo>
                <a:cubicBezTo>
                  <a:pt x="166688" y="56929"/>
                  <a:pt x="172023" y="51594"/>
                  <a:pt x="178594" y="51594"/>
                </a:cubicBezTo>
                <a:cubicBezTo>
                  <a:pt x="185165" y="51594"/>
                  <a:pt x="190500" y="56929"/>
                  <a:pt x="190500" y="63500"/>
                </a:cubicBezTo>
                <a:cubicBezTo>
                  <a:pt x="190500" y="70071"/>
                  <a:pt x="185165" y="75406"/>
                  <a:pt x="178594" y="75406"/>
                </a:cubicBezTo>
                <a:cubicBezTo>
                  <a:pt x="172023" y="75406"/>
                  <a:pt x="166688" y="70071"/>
                  <a:pt x="166688" y="63500"/>
                </a:cubicBezTo>
                <a:close/>
                <a:moveTo>
                  <a:pt x="31750" y="142875"/>
                </a:moveTo>
                <a:cubicBezTo>
                  <a:pt x="14238" y="142875"/>
                  <a:pt x="0" y="157113"/>
                  <a:pt x="0" y="174625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174625"/>
                </a:lnTo>
                <a:cubicBezTo>
                  <a:pt x="222250" y="157113"/>
                  <a:pt x="208012" y="142875"/>
                  <a:pt x="190500" y="142875"/>
                </a:cubicBezTo>
                <a:lnTo>
                  <a:pt x="31750" y="142875"/>
                </a:lnTo>
                <a:close/>
                <a:moveTo>
                  <a:pt x="138906" y="178594"/>
                </a:moveTo>
                <a:cubicBezTo>
                  <a:pt x="145477" y="178594"/>
                  <a:pt x="150813" y="183929"/>
                  <a:pt x="150813" y="190500"/>
                </a:cubicBezTo>
                <a:cubicBezTo>
                  <a:pt x="150813" y="197071"/>
                  <a:pt x="145477" y="202406"/>
                  <a:pt x="138906" y="202406"/>
                </a:cubicBezTo>
                <a:cubicBezTo>
                  <a:pt x="132335" y="202406"/>
                  <a:pt x="127000" y="197071"/>
                  <a:pt x="127000" y="190500"/>
                </a:cubicBezTo>
                <a:cubicBezTo>
                  <a:pt x="127000" y="183929"/>
                  <a:pt x="132335" y="178594"/>
                  <a:pt x="138906" y="178594"/>
                </a:cubicBezTo>
                <a:close/>
                <a:moveTo>
                  <a:pt x="166688" y="190500"/>
                </a:moveTo>
                <a:cubicBezTo>
                  <a:pt x="166688" y="183929"/>
                  <a:pt x="172023" y="178594"/>
                  <a:pt x="178594" y="178594"/>
                </a:cubicBezTo>
                <a:cubicBezTo>
                  <a:pt x="185165" y="178594"/>
                  <a:pt x="190500" y="183929"/>
                  <a:pt x="190500" y="190500"/>
                </a:cubicBezTo>
                <a:cubicBezTo>
                  <a:pt x="190500" y="197071"/>
                  <a:pt x="185165" y="202406"/>
                  <a:pt x="178594" y="202406"/>
                </a:cubicBezTo>
                <a:cubicBezTo>
                  <a:pt x="172023" y="202406"/>
                  <a:pt x="166688" y="197071"/>
                  <a:pt x="166688" y="190500"/>
                </a:cubicBezTo>
                <a:close/>
              </a:path>
            </a:pathLst>
          </a:custGeom>
          <a:solidFill>
            <a:srgbClr val="004080"/>
          </a:solidFill>
          <a:ln/>
        </p:spPr>
      </p:sp>
      <p:sp>
        <p:nvSpPr>
          <p:cNvPr id="8" name="Text 4"/>
          <p:cNvSpPr/>
          <p:nvPr/>
        </p:nvSpPr>
        <p:spPr>
          <a:xfrm>
            <a:off x="1390109" y="2997126"/>
            <a:ext cx="356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传统GPU集群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20209" y="3504946"/>
            <a:ext cx="40386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2250" indent="-22225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资源常驻，导致大量闲置浪费</a:t>
            </a:r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marL="222250" indent="-22225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手动预估流量，扩容不及时</a:t>
            </a:r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marL="222250" indent="-22225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常驻成本高昂，灵活性差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752919" y="322569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74608" y="277892"/>
                </a:moveTo>
                <a:cubicBezTo>
                  <a:pt x="689491" y="292775"/>
                  <a:pt x="689491" y="316944"/>
                  <a:pt x="674608" y="331827"/>
                </a:cubicBezTo>
                <a:lnTo>
                  <a:pt x="522208" y="484227"/>
                </a:lnTo>
                <a:cubicBezTo>
                  <a:pt x="511254" y="495181"/>
                  <a:pt x="494943" y="498396"/>
                  <a:pt x="480655" y="492442"/>
                </a:cubicBezTo>
                <a:cubicBezTo>
                  <a:pt x="466368" y="486489"/>
                  <a:pt x="457200" y="472559"/>
                  <a:pt x="457200" y="457200"/>
                </a:cubicBezTo>
                <a:lnTo>
                  <a:pt x="457200" y="381000"/>
                </a:lnTo>
                <a:lnTo>
                  <a:pt x="57150" y="381000"/>
                </a:lnTo>
                <a:cubicBezTo>
                  <a:pt x="25598" y="381000"/>
                  <a:pt x="0" y="355402"/>
                  <a:pt x="0" y="323850"/>
                </a:cubicBezTo>
                <a:lnTo>
                  <a:pt x="0" y="285750"/>
                </a:lnTo>
                <a:cubicBezTo>
                  <a:pt x="0" y="254198"/>
                  <a:pt x="25598" y="228600"/>
                  <a:pt x="57150" y="228600"/>
                </a:cubicBezTo>
                <a:lnTo>
                  <a:pt x="457200" y="228600"/>
                </a:lnTo>
                <a:lnTo>
                  <a:pt x="457200" y="152400"/>
                </a:lnTo>
                <a:cubicBezTo>
                  <a:pt x="457200" y="137041"/>
                  <a:pt x="466487" y="123111"/>
                  <a:pt x="480774" y="117157"/>
                </a:cubicBezTo>
                <a:cubicBezTo>
                  <a:pt x="495062" y="111204"/>
                  <a:pt x="511373" y="114538"/>
                  <a:pt x="522327" y="125373"/>
                </a:cubicBezTo>
                <a:lnTo>
                  <a:pt x="674727" y="277773"/>
                </a:ln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1" name="Text 7"/>
          <p:cNvSpPr/>
          <p:nvPr/>
        </p:nvSpPr>
        <p:spPr>
          <a:xfrm>
            <a:off x="5582227" y="3936820"/>
            <a:ext cx="153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40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Serverless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914284" y="2680891"/>
            <a:ext cx="4648200" cy="2082800"/>
          </a:xfrm>
          <a:custGeom>
            <a:avLst/>
            <a:gdLst/>
            <a:ahLst/>
            <a:cxnLst/>
            <a:rect l="l" t="t" r="r" b="b"/>
            <a:pathLst>
              <a:path w="4648200" h="2082800">
                <a:moveTo>
                  <a:pt x="101599" y="0"/>
                </a:moveTo>
                <a:lnTo>
                  <a:pt x="4546601" y="0"/>
                </a:lnTo>
                <a:cubicBezTo>
                  <a:pt x="4602713" y="0"/>
                  <a:pt x="4648200" y="45487"/>
                  <a:pt x="4648200" y="101599"/>
                </a:cubicBezTo>
                <a:lnTo>
                  <a:pt x="4648200" y="1981201"/>
                </a:lnTo>
                <a:cubicBezTo>
                  <a:pt x="4648200" y="2037313"/>
                  <a:pt x="4602713" y="2082800"/>
                  <a:pt x="4546601" y="2082800"/>
                </a:cubicBezTo>
                <a:lnTo>
                  <a:pt x="101599" y="2082800"/>
                </a:lnTo>
                <a:cubicBezTo>
                  <a:pt x="45487" y="2082800"/>
                  <a:pt x="0" y="2037313"/>
                  <a:pt x="0" y="19812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3A7BD5">
              <a:alpha val="20000"/>
            </a:srgbClr>
          </a:solidFill>
          <a:ln w="11545">
            <a:solidFill>
              <a:srgbClr val="3A7BD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278146" y="304782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68077" y="-4911"/>
                </a:moveTo>
                <a:cubicBezTo>
                  <a:pt x="173980" y="-645"/>
                  <a:pt x="176163" y="7094"/>
                  <a:pt x="173484" y="13841"/>
                </a:cubicBezTo>
                <a:lnTo>
                  <a:pt x="134590" y="111125"/>
                </a:lnTo>
                <a:lnTo>
                  <a:pt x="206375" y="111125"/>
                </a:lnTo>
                <a:cubicBezTo>
                  <a:pt x="213072" y="111125"/>
                  <a:pt x="219025" y="115292"/>
                  <a:pt x="221307" y="121593"/>
                </a:cubicBezTo>
                <a:cubicBezTo>
                  <a:pt x="223589" y="127893"/>
                  <a:pt x="221655" y="134938"/>
                  <a:pt x="216545" y="139204"/>
                </a:cubicBezTo>
                <a:lnTo>
                  <a:pt x="73670" y="258266"/>
                </a:lnTo>
                <a:cubicBezTo>
                  <a:pt x="68064" y="262930"/>
                  <a:pt x="60077" y="263178"/>
                  <a:pt x="54173" y="258911"/>
                </a:cubicBezTo>
                <a:cubicBezTo>
                  <a:pt x="48270" y="254645"/>
                  <a:pt x="46087" y="246906"/>
                  <a:pt x="48766" y="240159"/>
                </a:cubicBezTo>
                <a:lnTo>
                  <a:pt x="87660" y="142875"/>
                </a:lnTo>
                <a:lnTo>
                  <a:pt x="15875" y="142875"/>
                </a:lnTo>
                <a:cubicBezTo>
                  <a:pt x="9178" y="142875"/>
                  <a:pt x="3225" y="138708"/>
                  <a:pt x="943" y="132407"/>
                </a:cubicBezTo>
                <a:cubicBezTo>
                  <a:pt x="-1339" y="126107"/>
                  <a:pt x="595" y="119062"/>
                  <a:pt x="5705" y="114796"/>
                </a:cubicBezTo>
                <a:lnTo>
                  <a:pt x="148580" y="-4266"/>
                </a:lnTo>
                <a:cubicBezTo>
                  <a:pt x="154186" y="-8930"/>
                  <a:pt x="162173" y="-9178"/>
                  <a:pt x="168077" y="-4911"/>
                </a:cubicBezTo>
                <a:close/>
              </a:path>
            </a:pathLst>
          </a:custGeom>
          <a:solidFill>
            <a:srgbClr val="004080"/>
          </a:solidFill>
          <a:ln/>
        </p:spPr>
      </p:sp>
      <p:sp>
        <p:nvSpPr>
          <p:cNvPr id="14" name="Text 10"/>
          <p:cNvSpPr/>
          <p:nvPr/>
        </p:nvSpPr>
        <p:spPr>
          <a:xfrm>
            <a:off x="7700421" y="2997126"/>
            <a:ext cx="356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函数计算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230521" y="3504946"/>
            <a:ext cx="40386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2250" indent="-22225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按需扩容，缩容到零，无闲置</a:t>
            </a:r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marL="222250" indent="-22225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自动应对突发流量，性能稳定</a:t>
            </a:r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marL="222250" indent="-22225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按实际用量付费，成本最优化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54000" y="5192567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容器镜像缓存、GPU共享调度、请求聚合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等技术，将推理延迟控制在百毫秒级。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4000" y="135695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事件驱动架构：让模型响应业务事件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54000" y="1915641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7BD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通过EventBridge连接业务系统与AI能力，以声明式方式编排复杂AI流程。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795843" y="2982153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304800" y="130135"/>
                </a:moveTo>
                <a:lnTo>
                  <a:pt x="304800" y="381000"/>
                </a:lnTo>
                <a:cubicBezTo>
                  <a:pt x="304800" y="402074"/>
                  <a:pt x="287774" y="419100"/>
                  <a:pt x="266700" y="419100"/>
                </a:cubicBezTo>
                <a:cubicBezTo>
                  <a:pt x="245626" y="419100"/>
                  <a:pt x="228600" y="402074"/>
                  <a:pt x="228600" y="381000"/>
                </a:cubicBezTo>
                <a:lnTo>
                  <a:pt x="228600" y="130135"/>
                </a:lnTo>
                <a:lnTo>
                  <a:pt x="179308" y="179427"/>
                </a:lnTo>
                <a:cubicBezTo>
                  <a:pt x="164425" y="194310"/>
                  <a:pt x="140256" y="194310"/>
                  <a:pt x="125373" y="179427"/>
                </a:cubicBezTo>
                <a:cubicBezTo>
                  <a:pt x="110490" y="164544"/>
                  <a:pt x="110490" y="140375"/>
                  <a:pt x="125373" y="125492"/>
                </a:cubicBezTo>
                <a:lnTo>
                  <a:pt x="239673" y="11192"/>
                </a:lnTo>
                <a:cubicBezTo>
                  <a:pt x="254556" y="-3691"/>
                  <a:pt x="278725" y="-3691"/>
                  <a:pt x="293608" y="11192"/>
                </a:cubicBezTo>
                <a:lnTo>
                  <a:pt x="407908" y="125492"/>
                </a:lnTo>
                <a:cubicBezTo>
                  <a:pt x="422791" y="140375"/>
                  <a:pt x="422791" y="164544"/>
                  <a:pt x="407908" y="179427"/>
                </a:cubicBezTo>
                <a:cubicBezTo>
                  <a:pt x="393025" y="194310"/>
                  <a:pt x="368856" y="194310"/>
                  <a:pt x="353973" y="179427"/>
                </a:cubicBezTo>
                <a:lnTo>
                  <a:pt x="304800" y="130135"/>
                </a:lnTo>
                <a:close/>
                <a:moveTo>
                  <a:pt x="266700" y="476250"/>
                </a:moveTo>
                <a:cubicBezTo>
                  <a:pt x="319326" y="476250"/>
                  <a:pt x="361950" y="433626"/>
                  <a:pt x="361950" y="381000"/>
                </a:cubicBezTo>
                <a:lnTo>
                  <a:pt x="457200" y="381000"/>
                </a:lnTo>
                <a:cubicBezTo>
                  <a:pt x="499229" y="381000"/>
                  <a:pt x="533400" y="415171"/>
                  <a:pt x="533400" y="4572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457200"/>
                </a:lnTo>
                <a:cubicBezTo>
                  <a:pt x="0" y="415171"/>
                  <a:pt x="34171" y="381000"/>
                  <a:pt x="76200" y="381000"/>
                </a:cubicBezTo>
                <a:lnTo>
                  <a:pt x="171450" y="381000"/>
                </a:lnTo>
                <a:cubicBezTo>
                  <a:pt x="171450" y="433626"/>
                  <a:pt x="214074" y="476250"/>
                  <a:pt x="266700" y="476250"/>
                </a:cubicBezTo>
                <a:close/>
                <a:moveTo>
                  <a:pt x="438150" y="504825"/>
                </a:moveTo>
                <a:cubicBezTo>
                  <a:pt x="453921" y="504825"/>
                  <a:pt x="466725" y="492021"/>
                  <a:pt x="466725" y="476250"/>
                </a:cubicBezTo>
                <a:cubicBezTo>
                  <a:pt x="466725" y="460479"/>
                  <a:pt x="453921" y="447675"/>
                  <a:pt x="438150" y="447675"/>
                </a:cubicBezTo>
                <a:cubicBezTo>
                  <a:pt x="422379" y="447675"/>
                  <a:pt x="409575" y="460479"/>
                  <a:pt x="409575" y="476250"/>
                </a:cubicBezTo>
                <a:cubicBezTo>
                  <a:pt x="409575" y="492021"/>
                  <a:pt x="422379" y="504825"/>
                  <a:pt x="438150" y="504825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7" name="Text 3"/>
          <p:cNvSpPr/>
          <p:nvPr/>
        </p:nvSpPr>
        <p:spPr>
          <a:xfrm>
            <a:off x="0" y="3723227"/>
            <a:ext cx="212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业务事件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0" y="4027918"/>
            <a:ext cx="212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(上传图片/提交文本)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2624931" y="340338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06" y="248781"/>
                </a:moveTo>
                <a:cubicBezTo>
                  <a:pt x="459968" y="237619"/>
                  <a:pt x="459968" y="219492"/>
                  <a:pt x="448806" y="208330"/>
                </a:cubicBezTo>
                <a:lnTo>
                  <a:pt x="305931" y="65455"/>
                </a:lnTo>
                <a:cubicBezTo>
                  <a:pt x="294769" y="54293"/>
                  <a:pt x="276642" y="54293"/>
                  <a:pt x="265480" y="65455"/>
                </a:cubicBezTo>
                <a:cubicBezTo>
                  <a:pt x="254318" y="76617"/>
                  <a:pt x="254318" y="94744"/>
                  <a:pt x="265480" y="105906"/>
                </a:cubicBezTo>
                <a:lnTo>
                  <a:pt x="359599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359599" y="257175"/>
                </a:lnTo>
                <a:lnTo>
                  <a:pt x="265480" y="351294"/>
                </a:lnTo>
                <a:cubicBezTo>
                  <a:pt x="254317" y="362456"/>
                  <a:pt x="254317" y="380583"/>
                  <a:pt x="265480" y="391745"/>
                </a:cubicBezTo>
                <a:cubicBezTo>
                  <a:pt x="276642" y="402908"/>
                  <a:pt x="294769" y="402908"/>
                  <a:pt x="305931" y="391745"/>
                </a:cubicBezTo>
                <a:lnTo>
                  <a:pt x="448806" y="248870"/>
                </a:lnTo>
                <a:close/>
              </a:path>
            </a:pathLst>
          </a:custGeom>
          <a:solidFill>
            <a:srgbClr val="A8D0F5"/>
          </a:solidFill>
          <a:ln/>
        </p:spPr>
      </p:sp>
      <p:sp>
        <p:nvSpPr>
          <p:cNvPr id="10" name="Shape 6"/>
          <p:cNvSpPr/>
          <p:nvPr/>
        </p:nvSpPr>
        <p:spPr>
          <a:xfrm>
            <a:off x="3835797" y="2779027"/>
            <a:ext cx="1549400" cy="1701800"/>
          </a:xfrm>
          <a:custGeom>
            <a:avLst/>
            <a:gdLst/>
            <a:ahLst/>
            <a:cxnLst/>
            <a:rect l="l" t="t" r="r" b="b"/>
            <a:pathLst>
              <a:path w="1549400" h="1701800">
                <a:moveTo>
                  <a:pt x="101594" y="0"/>
                </a:moveTo>
                <a:lnTo>
                  <a:pt x="1447806" y="0"/>
                </a:lnTo>
                <a:cubicBezTo>
                  <a:pt x="1503915" y="0"/>
                  <a:pt x="1549400" y="45485"/>
                  <a:pt x="1549400" y="101594"/>
                </a:cubicBezTo>
                <a:lnTo>
                  <a:pt x="1549400" y="1600206"/>
                </a:lnTo>
                <a:cubicBezTo>
                  <a:pt x="1549400" y="1656315"/>
                  <a:pt x="1503915" y="1701800"/>
                  <a:pt x="1447806" y="1701800"/>
                </a:cubicBezTo>
                <a:lnTo>
                  <a:pt x="101594" y="1701800"/>
                </a:lnTo>
                <a:cubicBezTo>
                  <a:pt x="45485" y="1701800"/>
                  <a:pt x="0" y="1656315"/>
                  <a:pt x="0" y="1600206"/>
                </a:cubicBezTo>
                <a:lnTo>
                  <a:pt x="0" y="101594"/>
                </a:lnTo>
                <a:cubicBezTo>
                  <a:pt x="0" y="45485"/>
                  <a:pt x="45485" y="0"/>
                  <a:pt x="101594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04903" y="298215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98408" y="179308"/>
                </a:moveTo>
                <a:lnTo>
                  <a:pt x="484108" y="293608"/>
                </a:lnTo>
                <a:cubicBezTo>
                  <a:pt x="473154" y="304562"/>
                  <a:pt x="456843" y="307777"/>
                  <a:pt x="442555" y="301823"/>
                </a:cubicBezTo>
                <a:cubicBezTo>
                  <a:pt x="428268" y="295870"/>
                  <a:pt x="419100" y="282059"/>
                  <a:pt x="419100" y="266700"/>
                </a:cubicBezTo>
                <a:lnTo>
                  <a:pt x="419100" y="190500"/>
                </a:lnTo>
                <a:lnTo>
                  <a:pt x="38100" y="190500"/>
                </a:lnTo>
                <a:cubicBezTo>
                  <a:pt x="17026" y="190500"/>
                  <a:pt x="0" y="173474"/>
                  <a:pt x="0" y="152400"/>
                </a:cubicBezTo>
                <a:cubicBezTo>
                  <a:pt x="0" y="131326"/>
                  <a:pt x="17026" y="114300"/>
                  <a:pt x="38100" y="114300"/>
                </a:cubicBezTo>
                <a:lnTo>
                  <a:pt x="419100" y="114300"/>
                </a:lnTo>
                <a:lnTo>
                  <a:pt x="419100" y="38100"/>
                </a:lnTo>
                <a:cubicBezTo>
                  <a:pt x="419100" y="22741"/>
                  <a:pt x="428387" y="8811"/>
                  <a:pt x="442674" y="2857"/>
                </a:cubicBezTo>
                <a:cubicBezTo>
                  <a:pt x="456962" y="-3096"/>
                  <a:pt x="473273" y="238"/>
                  <a:pt x="484227" y="11073"/>
                </a:cubicBezTo>
                <a:lnTo>
                  <a:pt x="598527" y="125373"/>
                </a:lnTo>
                <a:cubicBezTo>
                  <a:pt x="613410" y="140256"/>
                  <a:pt x="613410" y="164425"/>
                  <a:pt x="598527" y="179308"/>
                </a:cubicBezTo>
                <a:close/>
                <a:moveTo>
                  <a:pt x="125373" y="598408"/>
                </a:moveTo>
                <a:lnTo>
                  <a:pt x="11073" y="484108"/>
                </a:lnTo>
                <a:cubicBezTo>
                  <a:pt x="-3810" y="469225"/>
                  <a:pt x="-3810" y="445056"/>
                  <a:pt x="11073" y="430173"/>
                </a:cubicBezTo>
                <a:lnTo>
                  <a:pt x="125373" y="315873"/>
                </a:lnTo>
                <a:cubicBezTo>
                  <a:pt x="136327" y="304919"/>
                  <a:pt x="152638" y="301704"/>
                  <a:pt x="166926" y="307658"/>
                </a:cubicBezTo>
                <a:cubicBezTo>
                  <a:pt x="181213" y="313611"/>
                  <a:pt x="190500" y="327541"/>
                  <a:pt x="190500" y="342900"/>
                </a:cubicBezTo>
                <a:lnTo>
                  <a:pt x="190500" y="419100"/>
                </a:lnTo>
                <a:lnTo>
                  <a:pt x="571500" y="419100"/>
                </a:lnTo>
                <a:cubicBezTo>
                  <a:pt x="592574" y="419100"/>
                  <a:pt x="609600" y="436126"/>
                  <a:pt x="609600" y="457200"/>
                </a:cubicBezTo>
                <a:cubicBezTo>
                  <a:pt x="609600" y="478274"/>
                  <a:pt x="592574" y="495300"/>
                  <a:pt x="571500" y="495300"/>
                </a:cubicBezTo>
                <a:lnTo>
                  <a:pt x="190500" y="495300"/>
                </a:lnTo>
                <a:lnTo>
                  <a:pt x="190500" y="571500"/>
                </a:lnTo>
                <a:cubicBezTo>
                  <a:pt x="190500" y="586859"/>
                  <a:pt x="181213" y="600789"/>
                  <a:pt x="166926" y="606743"/>
                </a:cubicBezTo>
                <a:cubicBezTo>
                  <a:pt x="152638" y="612696"/>
                  <a:pt x="136327" y="609362"/>
                  <a:pt x="125373" y="598527"/>
                </a:cubicBezTo>
                <a:close/>
              </a:path>
            </a:pathLst>
          </a:custGeom>
          <a:solidFill>
            <a:srgbClr val="004080"/>
          </a:solidFill>
          <a:ln/>
        </p:spPr>
      </p:sp>
      <p:sp>
        <p:nvSpPr>
          <p:cNvPr id="12" name="Text 8"/>
          <p:cNvSpPr/>
          <p:nvPr/>
        </p:nvSpPr>
        <p:spPr>
          <a:xfrm>
            <a:off x="3784924" y="3723227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事件总线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84924" y="4027918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(EventBridge)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137455" y="340338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06" y="248781"/>
                </a:moveTo>
                <a:cubicBezTo>
                  <a:pt x="459968" y="237619"/>
                  <a:pt x="459968" y="219492"/>
                  <a:pt x="448806" y="208330"/>
                </a:cubicBezTo>
                <a:lnTo>
                  <a:pt x="305931" y="65455"/>
                </a:lnTo>
                <a:cubicBezTo>
                  <a:pt x="294769" y="54293"/>
                  <a:pt x="276642" y="54293"/>
                  <a:pt x="265480" y="65455"/>
                </a:cubicBezTo>
                <a:cubicBezTo>
                  <a:pt x="254318" y="76617"/>
                  <a:pt x="254318" y="94744"/>
                  <a:pt x="265480" y="105906"/>
                </a:cubicBezTo>
                <a:lnTo>
                  <a:pt x="359599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359599" y="257175"/>
                </a:lnTo>
                <a:lnTo>
                  <a:pt x="265480" y="351294"/>
                </a:lnTo>
                <a:cubicBezTo>
                  <a:pt x="254317" y="362456"/>
                  <a:pt x="254317" y="380583"/>
                  <a:pt x="265480" y="391745"/>
                </a:cubicBezTo>
                <a:cubicBezTo>
                  <a:pt x="276642" y="402908"/>
                  <a:pt x="294769" y="402908"/>
                  <a:pt x="305931" y="391745"/>
                </a:cubicBezTo>
                <a:lnTo>
                  <a:pt x="448806" y="248870"/>
                </a:lnTo>
                <a:close/>
              </a:path>
            </a:pathLst>
          </a:custGeom>
          <a:solidFill>
            <a:srgbClr val="A8D0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636308" y="298215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42875" y="66675"/>
                </a:moveTo>
                <a:cubicBezTo>
                  <a:pt x="142875" y="29885"/>
                  <a:pt x="172760" y="0"/>
                  <a:pt x="209550" y="0"/>
                </a:cubicBezTo>
                <a:lnTo>
                  <a:pt x="238125" y="0"/>
                </a:lnTo>
                <a:cubicBezTo>
                  <a:pt x="259199" y="0"/>
                  <a:pt x="276225" y="17026"/>
                  <a:pt x="276225" y="38100"/>
                </a:cubicBezTo>
                <a:lnTo>
                  <a:pt x="276225" y="571500"/>
                </a:lnTo>
                <a:cubicBezTo>
                  <a:pt x="276225" y="592574"/>
                  <a:pt x="259199" y="609600"/>
                  <a:pt x="238125" y="609600"/>
                </a:cubicBezTo>
                <a:lnTo>
                  <a:pt x="200025" y="609600"/>
                </a:lnTo>
                <a:cubicBezTo>
                  <a:pt x="164544" y="609600"/>
                  <a:pt x="134660" y="585311"/>
                  <a:pt x="126206" y="552450"/>
                </a:cubicBezTo>
                <a:cubicBezTo>
                  <a:pt x="125373" y="552450"/>
                  <a:pt x="124658" y="552450"/>
                  <a:pt x="123825" y="552450"/>
                </a:cubicBezTo>
                <a:cubicBezTo>
                  <a:pt x="71199" y="552450"/>
                  <a:pt x="28575" y="509826"/>
                  <a:pt x="28575" y="457200"/>
                </a:cubicBezTo>
                <a:cubicBezTo>
                  <a:pt x="28575" y="435769"/>
                  <a:pt x="35719" y="416004"/>
                  <a:pt x="47625" y="400050"/>
                </a:cubicBezTo>
                <a:cubicBezTo>
                  <a:pt x="24527" y="382667"/>
                  <a:pt x="9525" y="355044"/>
                  <a:pt x="9525" y="323850"/>
                </a:cubicBezTo>
                <a:cubicBezTo>
                  <a:pt x="9525" y="287060"/>
                  <a:pt x="30480" y="255032"/>
                  <a:pt x="60960" y="239197"/>
                </a:cubicBezTo>
                <a:cubicBezTo>
                  <a:pt x="52507" y="224909"/>
                  <a:pt x="47625" y="208240"/>
                  <a:pt x="47625" y="190500"/>
                </a:cubicBezTo>
                <a:cubicBezTo>
                  <a:pt x="47625" y="137874"/>
                  <a:pt x="90249" y="95250"/>
                  <a:pt x="142875" y="95250"/>
                </a:cubicBezTo>
                <a:lnTo>
                  <a:pt x="142875" y="66675"/>
                </a:lnTo>
                <a:close/>
                <a:moveTo>
                  <a:pt x="466725" y="66675"/>
                </a:moveTo>
                <a:lnTo>
                  <a:pt x="466725" y="95250"/>
                </a:lnTo>
                <a:cubicBezTo>
                  <a:pt x="519351" y="95250"/>
                  <a:pt x="561975" y="137874"/>
                  <a:pt x="561975" y="190500"/>
                </a:cubicBezTo>
                <a:cubicBezTo>
                  <a:pt x="561975" y="208359"/>
                  <a:pt x="557093" y="225028"/>
                  <a:pt x="548640" y="239197"/>
                </a:cubicBezTo>
                <a:cubicBezTo>
                  <a:pt x="579239" y="255032"/>
                  <a:pt x="600075" y="286941"/>
                  <a:pt x="600075" y="323850"/>
                </a:cubicBezTo>
                <a:cubicBezTo>
                  <a:pt x="600075" y="355044"/>
                  <a:pt x="585073" y="382667"/>
                  <a:pt x="561975" y="400050"/>
                </a:cubicBezTo>
                <a:cubicBezTo>
                  <a:pt x="573881" y="416004"/>
                  <a:pt x="581025" y="435769"/>
                  <a:pt x="581025" y="457200"/>
                </a:cubicBezTo>
                <a:cubicBezTo>
                  <a:pt x="581025" y="509826"/>
                  <a:pt x="538401" y="552450"/>
                  <a:pt x="485775" y="552450"/>
                </a:cubicBezTo>
                <a:cubicBezTo>
                  <a:pt x="484942" y="552450"/>
                  <a:pt x="484227" y="552450"/>
                  <a:pt x="483394" y="552450"/>
                </a:cubicBezTo>
                <a:cubicBezTo>
                  <a:pt x="474940" y="585311"/>
                  <a:pt x="445056" y="609600"/>
                  <a:pt x="409575" y="609600"/>
                </a:cubicBezTo>
                <a:lnTo>
                  <a:pt x="371475" y="609600"/>
                </a:lnTo>
                <a:cubicBezTo>
                  <a:pt x="350401" y="609600"/>
                  <a:pt x="333375" y="592574"/>
                  <a:pt x="333375" y="571500"/>
                </a:cubicBezTo>
                <a:lnTo>
                  <a:pt x="333375" y="38100"/>
                </a:lnTo>
                <a:cubicBezTo>
                  <a:pt x="333375" y="17026"/>
                  <a:pt x="350401" y="0"/>
                  <a:pt x="371475" y="0"/>
                </a:cubicBezTo>
                <a:lnTo>
                  <a:pt x="400050" y="0"/>
                </a:lnTo>
                <a:cubicBezTo>
                  <a:pt x="436840" y="0"/>
                  <a:pt x="466725" y="29885"/>
                  <a:pt x="466725" y="66675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6" name="Text 12"/>
          <p:cNvSpPr/>
          <p:nvPr/>
        </p:nvSpPr>
        <p:spPr>
          <a:xfrm>
            <a:off x="7094320" y="3723227"/>
            <a:ext cx="168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AI推理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094320" y="4027918"/>
            <a:ext cx="168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(自动唤起函数)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9287560" y="340338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06" y="248781"/>
                </a:moveTo>
                <a:cubicBezTo>
                  <a:pt x="459968" y="237619"/>
                  <a:pt x="459968" y="219492"/>
                  <a:pt x="448806" y="208330"/>
                </a:cubicBezTo>
                <a:lnTo>
                  <a:pt x="305931" y="65455"/>
                </a:lnTo>
                <a:cubicBezTo>
                  <a:pt x="294769" y="54293"/>
                  <a:pt x="276642" y="54293"/>
                  <a:pt x="265480" y="65455"/>
                </a:cubicBezTo>
                <a:cubicBezTo>
                  <a:pt x="254318" y="76617"/>
                  <a:pt x="254318" y="94744"/>
                  <a:pt x="265480" y="105906"/>
                </a:cubicBezTo>
                <a:lnTo>
                  <a:pt x="359599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359599" y="257175"/>
                </a:lnTo>
                <a:lnTo>
                  <a:pt x="265480" y="351294"/>
                </a:lnTo>
                <a:cubicBezTo>
                  <a:pt x="254317" y="362456"/>
                  <a:pt x="254317" y="380583"/>
                  <a:pt x="265480" y="391745"/>
                </a:cubicBezTo>
                <a:cubicBezTo>
                  <a:pt x="276642" y="402908"/>
                  <a:pt x="294769" y="402908"/>
                  <a:pt x="305931" y="391745"/>
                </a:cubicBezTo>
                <a:lnTo>
                  <a:pt x="448806" y="248870"/>
                </a:lnTo>
                <a:close/>
              </a:path>
            </a:pathLst>
          </a:custGeom>
          <a:solidFill>
            <a:srgbClr val="A8D0F5"/>
          </a:solidFill>
          <a:ln/>
        </p:spPr>
      </p:sp>
      <p:sp>
        <p:nvSpPr>
          <p:cNvPr id="19" name="Shape 15"/>
          <p:cNvSpPr/>
          <p:nvPr/>
        </p:nvSpPr>
        <p:spPr>
          <a:xfrm>
            <a:off x="10951332" y="2982153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533400" y="245031"/>
                </a:moveTo>
                <a:cubicBezTo>
                  <a:pt x="515779" y="256699"/>
                  <a:pt x="495538" y="266105"/>
                  <a:pt x="474464" y="273606"/>
                </a:cubicBezTo>
                <a:cubicBezTo>
                  <a:pt x="418505" y="293608"/>
                  <a:pt x="345043" y="304800"/>
                  <a:pt x="266700" y="304800"/>
                </a:cubicBezTo>
                <a:cubicBezTo>
                  <a:pt x="188357" y="304800"/>
                  <a:pt x="114776" y="293489"/>
                  <a:pt x="58936" y="273606"/>
                </a:cubicBezTo>
                <a:cubicBezTo>
                  <a:pt x="37981" y="266105"/>
                  <a:pt x="17621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19420" y="438150"/>
                  <a:pt x="266700" y="438150"/>
                </a:cubicBezTo>
                <a:cubicBezTo>
                  <a:pt x="413980" y="438150"/>
                  <a:pt x="533400" y="395526"/>
                  <a:pt x="533400" y="342900"/>
                </a:cubicBezTo>
                <a:lnTo>
                  <a:pt x="533400" y="245031"/>
                </a:lnTo>
                <a:close/>
                <a:moveTo>
                  <a:pt x="533400" y="152400"/>
                </a:moveTo>
                <a:lnTo>
                  <a:pt x="533400" y="95250"/>
                </a:lnTo>
                <a:cubicBezTo>
                  <a:pt x="533400" y="42624"/>
                  <a:pt x="413980" y="0"/>
                  <a:pt x="266700" y="0"/>
                </a:cubicBezTo>
                <a:cubicBezTo>
                  <a:pt x="11942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19420" y="247650"/>
                  <a:pt x="266700" y="247650"/>
                </a:cubicBezTo>
                <a:cubicBezTo>
                  <a:pt x="413980" y="247650"/>
                  <a:pt x="533400" y="205026"/>
                  <a:pt x="533400" y="152400"/>
                </a:cubicBezTo>
                <a:close/>
                <a:moveTo>
                  <a:pt x="474464" y="464106"/>
                </a:moveTo>
                <a:cubicBezTo>
                  <a:pt x="418624" y="483989"/>
                  <a:pt x="345162" y="495300"/>
                  <a:pt x="266700" y="495300"/>
                </a:cubicBezTo>
                <a:cubicBezTo>
                  <a:pt x="188238" y="495300"/>
                  <a:pt x="114776" y="483989"/>
                  <a:pt x="58936" y="464106"/>
                </a:cubicBezTo>
                <a:cubicBezTo>
                  <a:pt x="37981" y="456605"/>
                  <a:pt x="17621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19420" y="609600"/>
                  <a:pt x="266700" y="609600"/>
                </a:cubicBezTo>
                <a:cubicBezTo>
                  <a:pt x="413980" y="609600"/>
                  <a:pt x="533400" y="566976"/>
                  <a:pt x="533400" y="514350"/>
                </a:cubicBezTo>
                <a:lnTo>
                  <a:pt x="533400" y="435531"/>
                </a:lnTo>
                <a:cubicBezTo>
                  <a:pt x="515779" y="447199"/>
                  <a:pt x="495538" y="456605"/>
                  <a:pt x="474464" y="464106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20" name="Text 16"/>
          <p:cNvSpPr/>
          <p:nvPr/>
        </p:nvSpPr>
        <p:spPr>
          <a:xfrm>
            <a:off x="10244426" y="3723227"/>
            <a:ext cx="194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结果存储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0244426" y="4027918"/>
            <a:ext cx="194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(数据库/消息队列)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254000" y="4993047"/>
            <a:ext cx="11684000" cy="508000"/>
          </a:xfrm>
          <a:custGeom>
            <a:avLst/>
            <a:gdLst/>
            <a:ahLst/>
            <a:cxnLst/>
            <a:rect l="l" t="t" r="r" b="b"/>
            <a:pathLst>
              <a:path w="11684000" h="508000">
                <a:moveTo>
                  <a:pt x="254000" y="0"/>
                </a:moveTo>
                <a:lnTo>
                  <a:pt x="11430000" y="0"/>
                </a:lnTo>
                <a:cubicBezTo>
                  <a:pt x="11570186" y="0"/>
                  <a:pt x="11684000" y="113814"/>
                  <a:pt x="11684000" y="254000"/>
                </a:cubicBezTo>
                <a:lnTo>
                  <a:pt x="11684000" y="254000"/>
                </a:lnTo>
                <a:cubicBezTo>
                  <a:pt x="11684000" y="394186"/>
                  <a:pt x="11570186" y="508000"/>
                  <a:pt x="11430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4080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0" y="4993047"/>
            <a:ext cx="12192000" cy="508000"/>
          </a:xfrm>
          <a:prstGeom prst="rect">
            <a:avLst/>
          </a:prstGeom>
          <a:noFill/>
          <a:ln/>
        </p:spPr>
        <p:txBody>
          <a:bodyPr wrap="square" lIns="203200" tIns="101600" rIns="203200" bIns="1016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该架构将模型服务解耦为独立事件处理器，支持多模型串并联，显著降低运维负担，提升业务响应实时性。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7435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数据智能基础设施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70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>    </p:cNvPr>
          <p:cNvPicPr>
            <a:picLocks noChangeAspect="1"/>
          </p:cNvPicPr>
          <p:nvPr/>
        </p:nvPicPr>
        <p:blipFill>
          <a:blip r:embed="rId2"/>
          <a:srcRect l="0" r="0" t="1192" b="1192"/>
          <a:stretch/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>    </p:cNvPr>
          <p:cNvPicPr>
            <a:picLocks noChangeAspect="1"/>
          </p:cNvPicPr>
          <p:nvPr/>
        </p:nvPicPr>
        <p:blipFill>
          <a:blip r:embed="rId3"/>
          <a:srcRect l="0" r="0" t="22162" b="0"/>
          <a:stretch/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>    </p:cNvPr>
          <p:cNvPicPr>
            <a:picLocks noChangeAspect="1"/>
          </p:cNvPicPr>
          <p:nvPr/>
        </p:nvPicPr>
        <p:blipFill>
          <a:blip r:embed="rId4">
            <a:alphaModFix amt="30000"/>
          </a:blip>
          <a:srcRect l="0" r="0" t="22162" b="0"/>
          <a:stretch/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4000" y="254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一站式数据治理与向量检索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54000" y="914254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7BD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AI原生应用依赖高质量数据闭环。阿里云提供统一平台，缩短数据到模型的距离。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54000" y="192971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7" name="Shape 3"/>
          <p:cNvSpPr/>
          <p:nvPr/>
        </p:nvSpPr>
        <p:spPr>
          <a:xfrm>
            <a:off x="419100" y="2082149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7800" y="81677"/>
                </a:moveTo>
                <a:cubicBezTo>
                  <a:pt x="171926" y="85566"/>
                  <a:pt x="165179" y="88702"/>
                  <a:pt x="158155" y="91202"/>
                </a:cubicBezTo>
                <a:cubicBezTo>
                  <a:pt x="139502" y="97869"/>
                  <a:pt x="115014" y="101600"/>
                  <a:pt x="88900" y="101600"/>
                </a:cubicBezTo>
                <a:cubicBezTo>
                  <a:pt x="62786" y="101600"/>
                  <a:pt x="38259" y="97830"/>
                  <a:pt x="19645" y="91202"/>
                </a:cubicBezTo>
                <a:cubicBezTo>
                  <a:pt x="12660" y="88702"/>
                  <a:pt x="5874" y="85566"/>
                  <a:pt x="0" y="81677"/>
                </a:cubicBezTo>
                <a:lnTo>
                  <a:pt x="0" y="114300"/>
                </a:lnTo>
                <a:cubicBezTo>
                  <a:pt x="0" y="131842"/>
                  <a:pt x="39807" y="146050"/>
                  <a:pt x="88900" y="146050"/>
                </a:cubicBezTo>
                <a:cubicBezTo>
                  <a:pt x="137993" y="146050"/>
                  <a:pt x="177800" y="131842"/>
                  <a:pt x="177800" y="114300"/>
                </a:cubicBezTo>
                <a:lnTo>
                  <a:pt x="177800" y="81677"/>
                </a:lnTo>
                <a:close/>
                <a:moveTo>
                  <a:pt x="177800" y="50800"/>
                </a:moveTo>
                <a:lnTo>
                  <a:pt x="177800" y="31750"/>
                </a:lnTo>
                <a:cubicBezTo>
                  <a:pt x="177800" y="14208"/>
                  <a:pt x="137993" y="0"/>
                  <a:pt x="88900" y="0"/>
                </a:cubicBezTo>
                <a:cubicBezTo>
                  <a:pt x="39807" y="0"/>
                  <a:pt x="0" y="14208"/>
                  <a:pt x="0" y="31750"/>
                </a:cubicBezTo>
                <a:lnTo>
                  <a:pt x="0" y="50800"/>
                </a:lnTo>
                <a:cubicBezTo>
                  <a:pt x="0" y="68342"/>
                  <a:pt x="39807" y="82550"/>
                  <a:pt x="88900" y="82550"/>
                </a:cubicBezTo>
                <a:cubicBezTo>
                  <a:pt x="137993" y="82550"/>
                  <a:pt x="177800" y="68342"/>
                  <a:pt x="177800" y="50800"/>
                </a:cubicBezTo>
                <a:close/>
                <a:moveTo>
                  <a:pt x="158155" y="154702"/>
                </a:moveTo>
                <a:cubicBezTo>
                  <a:pt x="139541" y="161330"/>
                  <a:pt x="115054" y="165100"/>
                  <a:pt x="88900" y="165100"/>
                </a:cubicBezTo>
                <a:cubicBezTo>
                  <a:pt x="62746" y="165100"/>
                  <a:pt x="38259" y="161330"/>
                  <a:pt x="19645" y="154702"/>
                </a:cubicBezTo>
                <a:cubicBezTo>
                  <a:pt x="12660" y="152202"/>
                  <a:pt x="5874" y="149066"/>
                  <a:pt x="0" y="145177"/>
                </a:cubicBezTo>
                <a:lnTo>
                  <a:pt x="0" y="171450"/>
                </a:lnTo>
                <a:cubicBezTo>
                  <a:pt x="0" y="188992"/>
                  <a:pt x="39807" y="203200"/>
                  <a:pt x="88900" y="203200"/>
                </a:cubicBezTo>
                <a:cubicBezTo>
                  <a:pt x="137993" y="203200"/>
                  <a:pt x="177800" y="188992"/>
                  <a:pt x="177800" y="171450"/>
                </a:cubicBezTo>
                <a:lnTo>
                  <a:pt x="177800" y="145177"/>
                </a:lnTo>
                <a:cubicBezTo>
                  <a:pt x="171926" y="149066"/>
                  <a:pt x="165179" y="152202"/>
                  <a:pt x="158155" y="15470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4"/>
          <p:cNvSpPr/>
          <p:nvPr/>
        </p:nvSpPr>
        <p:spPr>
          <a:xfrm>
            <a:off x="965128" y="1929712"/>
            <a:ext cx="523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40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统一数据平台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65128" y="2234406"/>
            <a:ext cx="4724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MaxCompute、Hologres等支持结构化、非结构化数据统一存储与实时分析。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254000" y="294553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1" name="Shape 7"/>
          <p:cNvSpPr/>
          <p:nvPr/>
        </p:nvSpPr>
        <p:spPr>
          <a:xfrm>
            <a:off x="406400" y="3097969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65100" y="82550"/>
                </a:moveTo>
                <a:cubicBezTo>
                  <a:pt x="165100" y="100767"/>
                  <a:pt x="159187" y="117594"/>
                  <a:pt x="149225" y="131247"/>
                </a:cubicBezTo>
                <a:lnTo>
                  <a:pt x="199469" y="181531"/>
                </a:lnTo>
                <a:cubicBezTo>
                  <a:pt x="204430" y="186492"/>
                  <a:pt x="204430" y="194548"/>
                  <a:pt x="199469" y="199509"/>
                </a:cubicBezTo>
                <a:cubicBezTo>
                  <a:pt x="194508" y="204470"/>
                  <a:pt x="186452" y="204470"/>
                  <a:pt x="181491" y="199509"/>
                </a:cubicBezTo>
                <a:lnTo>
                  <a:pt x="131247" y="149225"/>
                </a:lnTo>
                <a:cubicBezTo>
                  <a:pt x="117594" y="159187"/>
                  <a:pt x="100767" y="165100"/>
                  <a:pt x="82550" y="165100"/>
                </a:cubicBezTo>
                <a:cubicBezTo>
                  <a:pt x="36949" y="165100"/>
                  <a:pt x="0" y="128151"/>
                  <a:pt x="0" y="82550"/>
                </a:cubicBezTo>
                <a:cubicBezTo>
                  <a:pt x="0" y="36949"/>
                  <a:pt x="36949" y="0"/>
                  <a:pt x="82550" y="0"/>
                </a:cubicBezTo>
                <a:cubicBezTo>
                  <a:pt x="128151" y="0"/>
                  <a:pt x="165100" y="36949"/>
                  <a:pt x="165100" y="82550"/>
                </a:cubicBezTo>
                <a:close/>
                <a:moveTo>
                  <a:pt x="82550" y="139700"/>
                </a:moveTo>
                <a:cubicBezTo>
                  <a:pt x="114092" y="139700"/>
                  <a:pt x="139700" y="114092"/>
                  <a:pt x="139700" y="82550"/>
                </a:cubicBezTo>
                <a:cubicBezTo>
                  <a:pt x="139700" y="51008"/>
                  <a:pt x="114092" y="25400"/>
                  <a:pt x="82550" y="25400"/>
                </a:cubicBezTo>
                <a:cubicBezTo>
                  <a:pt x="51008" y="25400"/>
                  <a:pt x="25400" y="51008"/>
                  <a:pt x="25400" y="82550"/>
                </a:cubicBezTo>
                <a:cubicBezTo>
                  <a:pt x="25400" y="114092"/>
                  <a:pt x="51008" y="139700"/>
                  <a:pt x="82550" y="1397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965128" y="2945532"/>
            <a:ext cx="523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40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毫秒级向量检索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65128" y="3250223"/>
            <a:ext cx="4724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内置向量引擎，通过SQL即可调用，轻松构建基于私有知识库的问答与推荐系统。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254000" y="396135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5" name="Shape 11"/>
          <p:cNvSpPr/>
          <p:nvPr/>
        </p:nvSpPr>
        <p:spPr>
          <a:xfrm>
            <a:off x="406400" y="4113789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965128" y="3961352"/>
            <a:ext cx="523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40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企业级安全合规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965128" y="4266043"/>
            <a:ext cx="4724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提供数据脱敏、血缘追踪、权限分级等功能，满足严苛的合规要求。</a:t>
            </a:r>
            <a:endParaRPr lang="en-US" sz="1600" dirty="0"/>
          </a:p>
        </p:txBody>
      </p:sp>
      <p:pic>
        <p:nvPicPr>
          <p:cNvPr id="18" name="Image 2" descr="https://kimi-web-img.moonshot.cn/img/img-blog.csdnimg.cn/c07a8f8ccd7b722ca540aea0cd88822d5c198971.png">    </p:cNvPr>
          <p:cNvPicPr>
            <a:picLocks noChangeAspect="1"/>
          </p:cNvPicPr>
          <p:nvPr/>
        </p:nvPicPr>
        <p:blipFill>
          <a:blip r:embed="rId3"/>
          <a:srcRect l="2805" r="2805" t="0" b="0"/>
          <a:stretch/>
        </p:blipFill>
        <p:spPr>
          <a:xfrm>
            <a:off x="6096000" y="254000"/>
            <a:ext cx="5842000" cy="6350000"/>
          </a:xfrm>
          <a:prstGeom prst="roundRect">
            <a:avLst>
              <a:gd name="adj" fmla="val 2609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118285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隐私计算护航数据安全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0" y="1676977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7BD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数据可用不可见，为AI原生生态提供安全底座。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54000" y="2438614"/>
            <a:ext cx="3619500" cy="1676400"/>
          </a:xfrm>
          <a:custGeom>
            <a:avLst/>
            <a:gdLst/>
            <a:ahLst/>
            <a:cxnLst/>
            <a:rect l="l" t="t" r="r" b="b"/>
            <a:pathLst>
              <a:path w="3619500" h="1676400">
                <a:moveTo>
                  <a:pt x="101607" y="0"/>
                </a:moveTo>
                <a:lnTo>
                  <a:pt x="3517893" y="0"/>
                </a:lnTo>
                <a:cubicBezTo>
                  <a:pt x="3574009" y="0"/>
                  <a:pt x="3619500" y="45491"/>
                  <a:pt x="3619500" y="101607"/>
                </a:cubicBezTo>
                <a:lnTo>
                  <a:pt x="3619500" y="1574793"/>
                </a:lnTo>
                <a:cubicBezTo>
                  <a:pt x="3619500" y="1630909"/>
                  <a:pt x="3574009" y="1676400"/>
                  <a:pt x="3517893" y="1676400"/>
                </a:cubicBezTo>
                <a:lnTo>
                  <a:pt x="101607" y="1676400"/>
                </a:lnTo>
                <a:cubicBezTo>
                  <a:pt x="45491" y="1676400"/>
                  <a:pt x="0" y="1630909"/>
                  <a:pt x="0" y="15747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A8D0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1808740" y="2641746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21456" y="78581"/>
                </a:moveTo>
                <a:lnTo>
                  <a:pt x="292894" y="78581"/>
                </a:lnTo>
                <a:lnTo>
                  <a:pt x="292894" y="121444"/>
                </a:lnTo>
                <a:lnTo>
                  <a:pt x="221456" y="121444"/>
                </a:lnTo>
                <a:lnTo>
                  <a:pt x="221456" y="78581"/>
                </a:lnTo>
                <a:close/>
                <a:moveTo>
                  <a:pt x="214313" y="28575"/>
                </a:moveTo>
                <a:cubicBezTo>
                  <a:pt x="190649" y="28575"/>
                  <a:pt x="171450" y="47774"/>
                  <a:pt x="171450" y="71438"/>
                </a:cubicBezTo>
                <a:lnTo>
                  <a:pt x="171450" y="128588"/>
                </a:lnTo>
                <a:cubicBezTo>
                  <a:pt x="171450" y="152251"/>
                  <a:pt x="190649" y="171450"/>
                  <a:pt x="214313" y="171450"/>
                </a:cubicBezTo>
                <a:lnTo>
                  <a:pt x="228600" y="171450"/>
                </a:lnTo>
                <a:lnTo>
                  <a:pt x="228600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114300" y="257175"/>
                </a:lnTo>
                <a:lnTo>
                  <a:pt x="114300" y="285750"/>
                </a:lnTo>
                <a:lnTo>
                  <a:pt x="100013" y="285750"/>
                </a:lnTo>
                <a:cubicBezTo>
                  <a:pt x="76349" y="285750"/>
                  <a:pt x="57150" y="304949"/>
                  <a:pt x="57150" y="328613"/>
                </a:cubicBezTo>
                <a:lnTo>
                  <a:pt x="57150" y="385763"/>
                </a:lnTo>
                <a:cubicBezTo>
                  <a:pt x="57150" y="409426"/>
                  <a:pt x="76349" y="428625"/>
                  <a:pt x="100013" y="428625"/>
                </a:cubicBezTo>
                <a:lnTo>
                  <a:pt x="185738" y="428625"/>
                </a:lnTo>
                <a:cubicBezTo>
                  <a:pt x="209401" y="428625"/>
                  <a:pt x="228600" y="409426"/>
                  <a:pt x="228600" y="385763"/>
                </a:cubicBezTo>
                <a:lnTo>
                  <a:pt x="228600" y="328613"/>
                </a:lnTo>
                <a:cubicBezTo>
                  <a:pt x="228600" y="304949"/>
                  <a:pt x="209401" y="285750"/>
                  <a:pt x="185738" y="285750"/>
                </a:cubicBezTo>
                <a:lnTo>
                  <a:pt x="171450" y="285750"/>
                </a:lnTo>
                <a:lnTo>
                  <a:pt x="171450" y="257175"/>
                </a:lnTo>
                <a:lnTo>
                  <a:pt x="342900" y="257175"/>
                </a:lnTo>
                <a:lnTo>
                  <a:pt x="342900" y="285750"/>
                </a:lnTo>
                <a:lnTo>
                  <a:pt x="328613" y="285750"/>
                </a:lnTo>
                <a:cubicBezTo>
                  <a:pt x="304949" y="285750"/>
                  <a:pt x="285750" y="304949"/>
                  <a:pt x="285750" y="328613"/>
                </a:cubicBezTo>
                <a:lnTo>
                  <a:pt x="285750" y="385763"/>
                </a:lnTo>
                <a:cubicBezTo>
                  <a:pt x="285750" y="409426"/>
                  <a:pt x="304949" y="428625"/>
                  <a:pt x="328613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3"/>
                </a:cubicBezTo>
                <a:lnTo>
                  <a:pt x="457200" y="328613"/>
                </a:lnTo>
                <a:cubicBezTo>
                  <a:pt x="457200" y="304949"/>
                  <a:pt x="438001" y="285750"/>
                  <a:pt x="414338" y="285750"/>
                </a:cubicBezTo>
                <a:lnTo>
                  <a:pt x="400050" y="285750"/>
                </a:lnTo>
                <a:lnTo>
                  <a:pt x="400050" y="257175"/>
                </a:lnTo>
                <a:lnTo>
                  <a:pt x="485775" y="257175"/>
                </a:lnTo>
                <a:cubicBezTo>
                  <a:pt x="501581" y="257175"/>
                  <a:pt x="514350" y="244406"/>
                  <a:pt x="514350" y="228600"/>
                </a:cubicBezTo>
                <a:cubicBezTo>
                  <a:pt x="514350" y="212794"/>
                  <a:pt x="501581" y="200025"/>
                  <a:pt x="485775" y="200025"/>
                </a:cubicBezTo>
                <a:lnTo>
                  <a:pt x="285750" y="200025"/>
                </a:lnTo>
                <a:lnTo>
                  <a:pt x="285750" y="171450"/>
                </a:lnTo>
                <a:lnTo>
                  <a:pt x="300038" y="171450"/>
                </a:lnTo>
                <a:cubicBezTo>
                  <a:pt x="323701" y="171450"/>
                  <a:pt x="342900" y="152251"/>
                  <a:pt x="342900" y="128588"/>
                </a:cubicBezTo>
                <a:lnTo>
                  <a:pt x="342900" y="71438"/>
                </a:lnTo>
                <a:cubicBezTo>
                  <a:pt x="342900" y="47774"/>
                  <a:pt x="323701" y="28575"/>
                  <a:pt x="300038" y="28575"/>
                </a:cubicBezTo>
                <a:lnTo>
                  <a:pt x="214313" y="28575"/>
                </a:lnTo>
                <a:close/>
                <a:moveTo>
                  <a:pt x="400050" y="335756"/>
                </a:moveTo>
                <a:lnTo>
                  <a:pt x="407194" y="335756"/>
                </a:lnTo>
                <a:lnTo>
                  <a:pt x="407194" y="378619"/>
                </a:lnTo>
                <a:lnTo>
                  <a:pt x="335756" y="378619"/>
                </a:lnTo>
                <a:lnTo>
                  <a:pt x="335756" y="335756"/>
                </a:lnTo>
                <a:lnTo>
                  <a:pt x="400050" y="335756"/>
                </a:lnTo>
                <a:close/>
                <a:moveTo>
                  <a:pt x="171450" y="335756"/>
                </a:moveTo>
                <a:lnTo>
                  <a:pt x="178594" y="335756"/>
                </a:lnTo>
                <a:lnTo>
                  <a:pt x="178594" y="378619"/>
                </a:lnTo>
                <a:lnTo>
                  <a:pt x="107156" y="378619"/>
                </a:lnTo>
                <a:lnTo>
                  <a:pt x="107156" y="335756"/>
                </a:lnTo>
                <a:lnTo>
                  <a:pt x="171450" y="335756"/>
                </a:ln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8" name="Text 4"/>
          <p:cNvSpPr/>
          <p:nvPr/>
        </p:nvSpPr>
        <p:spPr>
          <a:xfrm>
            <a:off x="203128" y="3251129"/>
            <a:ext cx="372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40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联邦学习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203128" y="3657200"/>
            <a:ext cx="3721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原始数据不出域，联合建模提升效果。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284085" y="2438614"/>
            <a:ext cx="3619500" cy="1676400"/>
          </a:xfrm>
          <a:custGeom>
            <a:avLst/>
            <a:gdLst/>
            <a:ahLst/>
            <a:cxnLst/>
            <a:rect l="l" t="t" r="r" b="b"/>
            <a:pathLst>
              <a:path w="3619500" h="1676400">
                <a:moveTo>
                  <a:pt x="101607" y="0"/>
                </a:moveTo>
                <a:lnTo>
                  <a:pt x="3517893" y="0"/>
                </a:lnTo>
                <a:cubicBezTo>
                  <a:pt x="3574009" y="0"/>
                  <a:pt x="3619500" y="45491"/>
                  <a:pt x="3619500" y="101607"/>
                </a:cubicBezTo>
                <a:lnTo>
                  <a:pt x="3619500" y="1574793"/>
                </a:lnTo>
                <a:cubicBezTo>
                  <a:pt x="3619500" y="1630909"/>
                  <a:pt x="3574009" y="1676400"/>
                  <a:pt x="3517893" y="1676400"/>
                </a:cubicBezTo>
                <a:lnTo>
                  <a:pt x="101607" y="1676400"/>
                </a:lnTo>
                <a:cubicBezTo>
                  <a:pt x="45491" y="1676400"/>
                  <a:pt x="0" y="1630909"/>
                  <a:pt x="0" y="15747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A8D0F5">
              <a:alpha val="2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5895975" y="2641746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52698" y="-14287"/>
                </a:moveTo>
                <a:cubicBezTo>
                  <a:pt x="120194" y="-14287"/>
                  <a:pt x="101084" y="37773"/>
                  <a:pt x="91708" y="85725"/>
                </a:cubicBezTo>
                <a:lnTo>
                  <a:pt x="64294" y="85725"/>
                </a:lnTo>
                <a:cubicBezTo>
                  <a:pt x="52417" y="85725"/>
                  <a:pt x="42863" y="95280"/>
                  <a:pt x="42863" y="107156"/>
                </a:cubicBezTo>
                <a:cubicBezTo>
                  <a:pt x="42863" y="119033"/>
                  <a:pt x="52417" y="128588"/>
                  <a:pt x="64294" y="128588"/>
                </a:cubicBezTo>
                <a:lnTo>
                  <a:pt x="85725" y="128588"/>
                </a:lnTo>
                <a:lnTo>
                  <a:pt x="85725" y="157163"/>
                </a:lnTo>
                <a:cubicBezTo>
                  <a:pt x="85725" y="172343"/>
                  <a:pt x="88672" y="186809"/>
                  <a:pt x="94030" y="200025"/>
                </a:cubicBezTo>
                <a:lnTo>
                  <a:pt x="85725" y="200025"/>
                </a:lnTo>
                <a:lnTo>
                  <a:pt x="85725" y="200025"/>
                </a:lnTo>
                <a:lnTo>
                  <a:pt x="67419" y="200025"/>
                </a:lnTo>
                <a:cubicBezTo>
                  <a:pt x="53846" y="200025"/>
                  <a:pt x="42863" y="211009"/>
                  <a:pt x="42863" y="224582"/>
                </a:cubicBezTo>
                <a:cubicBezTo>
                  <a:pt x="42863" y="227261"/>
                  <a:pt x="43309" y="229850"/>
                  <a:pt x="44113" y="232350"/>
                </a:cubicBezTo>
                <a:lnTo>
                  <a:pt x="69919" y="309682"/>
                </a:lnTo>
                <a:cubicBezTo>
                  <a:pt x="35897" y="338971"/>
                  <a:pt x="14288" y="382280"/>
                  <a:pt x="14288" y="430679"/>
                </a:cubicBezTo>
                <a:cubicBezTo>
                  <a:pt x="14288" y="445324"/>
                  <a:pt x="26164" y="457200"/>
                  <a:pt x="40809" y="457200"/>
                </a:cubicBezTo>
                <a:lnTo>
                  <a:pt x="359241" y="457200"/>
                </a:lnTo>
                <a:cubicBezTo>
                  <a:pt x="373886" y="457200"/>
                  <a:pt x="385763" y="445324"/>
                  <a:pt x="385763" y="430679"/>
                </a:cubicBezTo>
                <a:cubicBezTo>
                  <a:pt x="385763" y="382280"/>
                  <a:pt x="364153" y="338971"/>
                  <a:pt x="330131" y="309771"/>
                </a:cubicBezTo>
                <a:lnTo>
                  <a:pt x="355937" y="232440"/>
                </a:lnTo>
                <a:cubicBezTo>
                  <a:pt x="356741" y="229939"/>
                  <a:pt x="357187" y="227350"/>
                  <a:pt x="357187" y="224671"/>
                </a:cubicBezTo>
                <a:cubicBezTo>
                  <a:pt x="357187" y="211098"/>
                  <a:pt x="346204" y="200114"/>
                  <a:pt x="332631" y="200114"/>
                </a:cubicBezTo>
                <a:lnTo>
                  <a:pt x="314325" y="200114"/>
                </a:lnTo>
                <a:lnTo>
                  <a:pt x="314325" y="200114"/>
                </a:lnTo>
                <a:lnTo>
                  <a:pt x="306020" y="200114"/>
                </a:lnTo>
                <a:cubicBezTo>
                  <a:pt x="311378" y="186898"/>
                  <a:pt x="314325" y="172432"/>
                  <a:pt x="314325" y="157252"/>
                </a:cubicBezTo>
                <a:lnTo>
                  <a:pt x="314325" y="128677"/>
                </a:lnTo>
                <a:lnTo>
                  <a:pt x="335756" y="128677"/>
                </a:lnTo>
                <a:cubicBezTo>
                  <a:pt x="347633" y="128677"/>
                  <a:pt x="357187" y="119122"/>
                  <a:pt x="357187" y="107246"/>
                </a:cubicBezTo>
                <a:cubicBezTo>
                  <a:pt x="357187" y="95369"/>
                  <a:pt x="347633" y="85814"/>
                  <a:pt x="335756" y="85814"/>
                </a:cubicBezTo>
                <a:lnTo>
                  <a:pt x="308342" y="85814"/>
                </a:lnTo>
                <a:cubicBezTo>
                  <a:pt x="299055" y="37862"/>
                  <a:pt x="279856" y="-14198"/>
                  <a:pt x="247352" y="-14198"/>
                </a:cubicBezTo>
                <a:cubicBezTo>
                  <a:pt x="238780" y="-14198"/>
                  <a:pt x="230386" y="-10716"/>
                  <a:pt x="222796" y="-6876"/>
                </a:cubicBezTo>
                <a:cubicBezTo>
                  <a:pt x="215473" y="-3215"/>
                  <a:pt x="206365" y="89"/>
                  <a:pt x="200025" y="89"/>
                </a:cubicBezTo>
                <a:cubicBezTo>
                  <a:pt x="193685" y="89"/>
                  <a:pt x="184577" y="-3215"/>
                  <a:pt x="177254" y="-6876"/>
                </a:cubicBezTo>
                <a:cubicBezTo>
                  <a:pt x="169664" y="-10805"/>
                  <a:pt x="161270" y="-14287"/>
                  <a:pt x="152698" y="-14287"/>
                </a:cubicBezTo>
                <a:close/>
                <a:moveTo>
                  <a:pt x="236369" y="418267"/>
                </a:moveTo>
                <a:lnTo>
                  <a:pt x="214223" y="354955"/>
                </a:lnTo>
                <a:lnTo>
                  <a:pt x="239137" y="325934"/>
                </a:lnTo>
                <a:cubicBezTo>
                  <a:pt x="241548" y="323076"/>
                  <a:pt x="242887" y="319504"/>
                  <a:pt x="242887" y="315754"/>
                </a:cubicBezTo>
                <a:cubicBezTo>
                  <a:pt x="242887" y="307092"/>
                  <a:pt x="235922" y="300127"/>
                  <a:pt x="227261" y="300127"/>
                </a:cubicBezTo>
                <a:lnTo>
                  <a:pt x="172789" y="300127"/>
                </a:lnTo>
                <a:cubicBezTo>
                  <a:pt x="164128" y="300127"/>
                  <a:pt x="157162" y="307092"/>
                  <a:pt x="157162" y="315754"/>
                </a:cubicBezTo>
                <a:cubicBezTo>
                  <a:pt x="157162" y="319504"/>
                  <a:pt x="158502" y="323076"/>
                  <a:pt x="160913" y="325934"/>
                </a:cubicBezTo>
                <a:lnTo>
                  <a:pt x="185827" y="354955"/>
                </a:lnTo>
                <a:lnTo>
                  <a:pt x="163681" y="418267"/>
                </a:lnTo>
                <a:lnTo>
                  <a:pt x="112782" y="257175"/>
                </a:lnTo>
                <a:lnTo>
                  <a:pt x="144661" y="257175"/>
                </a:lnTo>
                <a:cubicBezTo>
                  <a:pt x="161092" y="266283"/>
                  <a:pt x="179933" y="271463"/>
                  <a:pt x="200025" y="271463"/>
                </a:cubicBezTo>
                <a:cubicBezTo>
                  <a:pt x="220117" y="271463"/>
                  <a:pt x="238958" y="266283"/>
                  <a:pt x="255389" y="257175"/>
                </a:cubicBezTo>
                <a:lnTo>
                  <a:pt x="287268" y="257175"/>
                </a:lnTo>
                <a:lnTo>
                  <a:pt x="236369" y="418267"/>
                </a:lnTo>
                <a:close/>
                <a:moveTo>
                  <a:pt x="200025" y="228600"/>
                </a:moveTo>
                <a:cubicBezTo>
                  <a:pt x="169039" y="228600"/>
                  <a:pt x="142696" y="208865"/>
                  <a:pt x="132784" y="181273"/>
                </a:cubicBezTo>
                <a:cubicBezTo>
                  <a:pt x="137874" y="184130"/>
                  <a:pt x="143768" y="185738"/>
                  <a:pt x="150019" y="185738"/>
                </a:cubicBezTo>
                <a:lnTo>
                  <a:pt x="161092" y="185738"/>
                </a:lnTo>
                <a:cubicBezTo>
                  <a:pt x="175826" y="185738"/>
                  <a:pt x="188863" y="176272"/>
                  <a:pt x="193506" y="162342"/>
                </a:cubicBezTo>
                <a:cubicBezTo>
                  <a:pt x="195560" y="156091"/>
                  <a:pt x="204401" y="156091"/>
                  <a:pt x="206454" y="162342"/>
                </a:cubicBezTo>
                <a:cubicBezTo>
                  <a:pt x="211098" y="176272"/>
                  <a:pt x="224224" y="185738"/>
                  <a:pt x="238869" y="185738"/>
                </a:cubicBezTo>
                <a:lnTo>
                  <a:pt x="249942" y="185738"/>
                </a:lnTo>
                <a:cubicBezTo>
                  <a:pt x="256193" y="185738"/>
                  <a:pt x="262086" y="184130"/>
                  <a:pt x="267176" y="181273"/>
                </a:cubicBezTo>
                <a:cubicBezTo>
                  <a:pt x="257264" y="208865"/>
                  <a:pt x="230922" y="228600"/>
                  <a:pt x="199936" y="228600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2" name="Text 8"/>
          <p:cNvSpPr/>
          <p:nvPr/>
        </p:nvSpPr>
        <p:spPr>
          <a:xfrm>
            <a:off x="4233213" y="3251129"/>
            <a:ext cx="372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40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差分隐私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233213" y="3657200"/>
            <a:ext cx="3721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添加噪声保护个体隐私，防止数据泄露。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314170" y="2438614"/>
            <a:ext cx="3619500" cy="1676400"/>
          </a:xfrm>
          <a:custGeom>
            <a:avLst/>
            <a:gdLst/>
            <a:ahLst/>
            <a:cxnLst/>
            <a:rect l="l" t="t" r="r" b="b"/>
            <a:pathLst>
              <a:path w="3619500" h="1676400">
                <a:moveTo>
                  <a:pt x="101607" y="0"/>
                </a:moveTo>
                <a:lnTo>
                  <a:pt x="3517893" y="0"/>
                </a:lnTo>
                <a:cubicBezTo>
                  <a:pt x="3574009" y="0"/>
                  <a:pt x="3619500" y="45491"/>
                  <a:pt x="3619500" y="101607"/>
                </a:cubicBezTo>
                <a:lnTo>
                  <a:pt x="3619500" y="1574793"/>
                </a:lnTo>
                <a:cubicBezTo>
                  <a:pt x="3619500" y="1630909"/>
                  <a:pt x="3574009" y="1676400"/>
                  <a:pt x="3517893" y="1676400"/>
                </a:cubicBezTo>
                <a:lnTo>
                  <a:pt x="101607" y="1676400"/>
                </a:lnTo>
                <a:cubicBezTo>
                  <a:pt x="45491" y="1676400"/>
                  <a:pt x="0" y="1630909"/>
                  <a:pt x="0" y="15747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A8D0F5">
              <a:alpha val="2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9897485" y="264174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6" name="Text 12"/>
          <p:cNvSpPr/>
          <p:nvPr/>
        </p:nvSpPr>
        <p:spPr>
          <a:xfrm>
            <a:off x="8263298" y="3251129"/>
            <a:ext cx="372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40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可信执行环境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263298" y="3657200"/>
            <a:ext cx="3721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硬件级安全隔离，保障计算过程安全。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254000" y="4520583"/>
            <a:ext cx="11684000" cy="1219200"/>
          </a:xfrm>
          <a:custGeom>
            <a:avLst/>
            <a:gdLst/>
            <a:ahLst/>
            <a:cxnLst/>
            <a:rect l="l" t="t" r="r" b="b"/>
            <a:pathLst>
              <a:path w="11684000" h="1219200">
                <a:moveTo>
                  <a:pt x="101596" y="0"/>
                </a:moveTo>
                <a:lnTo>
                  <a:pt x="11582404" y="0"/>
                </a:lnTo>
                <a:cubicBezTo>
                  <a:pt x="11638514" y="0"/>
                  <a:pt x="11684000" y="45486"/>
                  <a:pt x="11684000" y="101596"/>
                </a:cubicBezTo>
                <a:lnTo>
                  <a:pt x="11684000" y="1117604"/>
                </a:lnTo>
                <a:cubicBezTo>
                  <a:pt x="11684000" y="1173714"/>
                  <a:pt x="11638514" y="1219200"/>
                  <a:pt x="115824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004080">
              <a:alpha val="10196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469828" y="493946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02332" y="15032"/>
                </a:moveTo>
                <a:cubicBezTo>
                  <a:pt x="195039" y="10864"/>
                  <a:pt x="186035" y="10864"/>
                  <a:pt x="178668" y="15032"/>
                </a:cubicBezTo>
                <a:lnTo>
                  <a:pt x="11981" y="110282"/>
                </a:lnTo>
                <a:cubicBezTo>
                  <a:pt x="2604" y="115639"/>
                  <a:pt x="-2009" y="126653"/>
                  <a:pt x="744" y="137071"/>
                </a:cubicBezTo>
                <a:cubicBezTo>
                  <a:pt x="3497" y="147489"/>
                  <a:pt x="13022" y="154781"/>
                  <a:pt x="23812" y="154781"/>
                </a:cubicBezTo>
                <a:lnTo>
                  <a:pt x="47625" y="154781"/>
                </a:lnTo>
                <a:lnTo>
                  <a:pt x="47625" y="309563"/>
                </a:lnTo>
                <a:lnTo>
                  <a:pt x="47625" y="309563"/>
                </a:lnTo>
                <a:lnTo>
                  <a:pt x="9525" y="338137"/>
                </a:lnTo>
                <a:cubicBezTo>
                  <a:pt x="3497" y="342602"/>
                  <a:pt x="0" y="349672"/>
                  <a:pt x="0" y="357188"/>
                </a:cubicBezTo>
                <a:cubicBezTo>
                  <a:pt x="0" y="370359"/>
                  <a:pt x="10641" y="381000"/>
                  <a:pt x="23812" y="381000"/>
                </a:cubicBezTo>
                <a:lnTo>
                  <a:pt x="357188" y="381000"/>
                </a:lnTo>
                <a:cubicBezTo>
                  <a:pt x="370359" y="381000"/>
                  <a:pt x="381000" y="370359"/>
                  <a:pt x="381000" y="357188"/>
                </a:cubicBezTo>
                <a:cubicBezTo>
                  <a:pt x="381000" y="349672"/>
                  <a:pt x="377503" y="342602"/>
                  <a:pt x="371475" y="338137"/>
                </a:cubicBezTo>
                <a:lnTo>
                  <a:pt x="333375" y="309563"/>
                </a:lnTo>
                <a:lnTo>
                  <a:pt x="333375" y="154781"/>
                </a:lnTo>
                <a:lnTo>
                  <a:pt x="357188" y="154781"/>
                </a:lnTo>
                <a:cubicBezTo>
                  <a:pt x="367978" y="154781"/>
                  <a:pt x="377428" y="147489"/>
                  <a:pt x="380181" y="137071"/>
                </a:cubicBezTo>
                <a:cubicBezTo>
                  <a:pt x="382935" y="126653"/>
                  <a:pt x="378321" y="115639"/>
                  <a:pt x="368945" y="110282"/>
                </a:cubicBezTo>
                <a:lnTo>
                  <a:pt x="202257" y="15032"/>
                </a:lnTo>
                <a:close/>
                <a:moveTo>
                  <a:pt x="297656" y="154781"/>
                </a:moveTo>
                <a:lnTo>
                  <a:pt x="297656" y="309563"/>
                </a:lnTo>
                <a:lnTo>
                  <a:pt x="250031" y="309563"/>
                </a:lnTo>
                <a:lnTo>
                  <a:pt x="250031" y="154781"/>
                </a:lnTo>
                <a:lnTo>
                  <a:pt x="297656" y="154781"/>
                </a:lnTo>
                <a:close/>
                <a:moveTo>
                  <a:pt x="214313" y="154781"/>
                </a:moveTo>
                <a:lnTo>
                  <a:pt x="214313" y="309563"/>
                </a:lnTo>
                <a:lnTo>
                  <a:pt x="166688" y="309563"/>
                </a:lnTo>
                <a:lnTo>
                  <a:pt x="166688" y="154781"/>
                </a:lnTo>
                <a:lnTo>
                  <a:pt x="214313" y="154781"/>
                </a:lnTo>
                <a:close/>
                <a:moveTo>
                  <a:pt x="130969" y="154781"/>
                </a:moveTo>
                <a:lnTo>
                  <a:pt x="130969" y="309563"/>
                </a:lnTo>
                <a:lnTo>
                  <a:pt x="83344" y="309563"/>
                </a:lnTo>
                <a:lnTo>
                  <a:pt x="83344" y="154781"/>
                </a:lnTo>
                <a:lnTo>
                  <a:pt x="130969" y="154781"/>
                </a:lnTo>
                <a:close/>
                <a:moveTo>
                  <a:pt x="190500" y="71438"/>
                </a:moveTo>
                <a:cubicBezTo>
                  <a:pt x="203642" y="71438"/>
                  <a:pt x="214313" y="82108"/>
                  <a:pt x="214313" y="95250"/>
                </a:cubicBezTo>
                <a:cubicBezTo>
                  <a:pt x="214313" y="108392"/>
                  <a:pt x="203642" y="119063"/>
                  <a:pt x="190500" y="119063"/>
                </a:cubicBezTo>
                <a:cubicBezTo>
                  <a:pt x="177358" y="119063"/>
                  <a:pt x="166688" y="108392"/>
                  <a:pt x="166688" y="95250"/>
                </a:cubicBezTo>
                <a:cubicBezTo>
                  <a:pt x="166688" y="82108"/>
                  <a:pt x="177358" y="71438"/>
                  <a:pt x="190500" y="71438"/>
                </a:cubicBezTo>
                <a:close/>
              </a:path>
            </a:pathLst>
          </a:custGeom>
          <a:solidFill>
            <a:srgbClr val="004080"/>
          </a:solidFill>
          <a:ln/>
        </p:spPr>
      </p:sp>
      <p:sp>
        <p:nvSpPr>
          <p:cNvPr id="20" name="Text 16"/>
          <p:cNvSpPr/>
          <p:nvPr/>
        </p:nvSpPr>
        <p:spPr>
          <a:xfrm>
            <a:off x="1065249" y="4723715"/>
            <a:ext cx="1117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40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跨机构联合风控案例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065249" y="5028403"/>
            <a:ext cx="1066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银行与电商平台在原始数据不出域的前提下完成联合建模，提升反欺诈准确率。平台提供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可视化拖拽界面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，开发者无需理解复杂算法即可快速上线合规AI应用。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7435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场景实践与未来展望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70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>    </p:cNvPr>
          <p:cNvPicPr>
            <a:picLocks noChangeAspect="1"/>
          </p:cNvPicPr>
          <p:nvPr/>
        </p:nvPicPr>
        <p:blipFill>
          <a:blip r:embed="rId2"/>
          <a:srcRect l="0" r="0" t="1192" b="1192"/>
          <a:stretch/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>    </p:cNvPr>
          <p:cNvPicPr>
            <a:picLocks noChangeAspect="1"/>
          </p:cNvPicPr>
          <p:nvPr/>
        </p:nvPicPr>
        <p:blipFill>
          <a:blip r:embed="rId3"/>
          <a:srcRect l="0" r="0" t="22162" b="0"/>
          <a:stretch/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>    </p:cNvPr>
          <p:cNvPicPr>
            <a:picLocks noChangeAspect="1"/>
          </p:cNvPicPr>
          <p:nvPr/>
        </p:nvPicPr>
        <p:blipFill>
          <a:blip r:embed="rId4">
            <a:alphaModFix amt="30000"/>
          </a:blip>
          <a:srcRect l="0" r="0" t="22162" b="0"/>
          <a:stretch/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549977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零售与金融场景落地案例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0" y="2108671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7BD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两大案例验证AI原生架构在复杂行业场景中的可复制路径与商业回报。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54000" y="2870312"/>
            <a:ext cx="5689600" cy="2438400"/>
          </a:xfrm>
          <a:custGeom>
            <a:avLst/>
            <a:gdLst/>
            <a:ahLst/>
            <a:cxnLst/>
            <a:rect l="l" t="t" r="r" b="b"/>
            <a:pathLst>
              <a:path w="5689600" h="2438400">
                <a:moveTo>
                  <a:pt x="152400" y="0"/>
                </a:moveTo>
                <a:lnTo>
                  <a:pt x="5537200" y="0"/>
                </a:lnTo>
                <a:cubicBezTo>
                  <a:pt x="5621312" y="0"/>
                  <a:pt x="5689600" y="68288"/>
                  <a:pt x="5689600" y="152400"/>
                </a:cubicBezTo>
                <a:lnTo>
                  <a:pt x="5689600" y="2286000"/>
                </a:lnTo>
                <a:cubicBezTo>
                  <a:pt x="5689600" y="2370112"/>
                  <a:pt x="5621312" y="2438400"/>
                  <a:pt x="5537200" y="2438400"/>
                </a:cubicBezTo>
                <a:lnTo>
                  <a:pt x="152400" y="2438400"/>
                </a:lnTo>
                <a:cubicBezTo>
                  <a:pt x="68288" y="2438400"/>
                  <a:pt x="0" y="2370112"/>
                  <a:pt x="0" y="22860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A8D0F5">
              <a:alpha val="20000"/>
            </a:srgbClr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33304" y="3187632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19063" y="59531"/>
                </a:moveTo>
                <a:cubicBezTo>
                  <a:pt x="119063" y="33263"/>
                  <a:pt x="140419" y="11906"/>
                  <a:pt x="166688" y="11906"/>
                </a:cubicBezTo>
                <a:cubicBezTo>
                  <a:pt x="192956" y="11906"/>
                  <a:pt x="214313" y="33263"/>
                  <a:pt x="214313" y="59531"/>
                </a:cubicBezTo>
                <a:lnTo>
                  <a:pt x="214313" y="95250"/>
                </a:lnTo>
                <a:lnTo>
                  <a:pt x="119063" y="95250"/>
                </a:lnTo>
                <a:lnTo>
                  <a:pt x="119063" y="59531"/>
                </a:lnTo>
                <a:close/>
                <a:moveTo>
                  <a:pt x="83344" y="95250"/>
                </a:moveTo>
                <a:lnTo>
                  <a:pt x="35719" y="95250"/>
                </a:lnTo>
                <a:cubicBezTo>
                  <a:pt x="15999" y="95250"/>
                  <a:pt x="0" y="111249"/>
                  <a:pt x="0" y="130969"/>
                </a:cubicBezTo>
                <a:lnTo>
                  <a:pt x="0" y="285750"/>
                </a:lnTo>
                <a:cubicBezTo>
                  <a:pt x="0" y="325189"/>
                  <a:pt x="31998" y="357188"/>
                  <a:pt x="71438" y="357188"/>
                </a:cubicBezTo>
                <a:lnTo>
                  <a:pt x="261938" y="357188"/>
                </a:lnTo>
                <a:cubicBezTo>
                  <a:pt x="301377" y="357188"/>
                  <a:pt x="333375" y="325189"/>
                  <a:pt x="333375" y="285750"/>
                </a:cubicBezTo>
                <a:lnTo>
                  <a:pt x="333375" y="130969"/>
                </a:lnTo>
                <a:cubicBezTo>
                  <a:pt x="333375" y="111249"/>
                  <a:pt x="317376" y="95250"/>
                  <a:pt x="297656" y="95250"/>
                </a:cubicBezTo>
                <a:lnTo>
                  <a:pt x="250031" y="95250"/>
                </a:lnTo>
                <a:lnTo>
                  <a:pt x="250031" y="59531"/>
                </a:lnTo>
                <a:cubicBezTo>
                  <a:pt x="250031" y="13469"/>
                  <a:pt x="212750" y="-23812"/>
                  <a:pt x="166688" y="-23812"/>
                </a:cubicBezTo>
                <a:cubicBezTo>
                  <a:pt x="120625" y="-23812"/>
                  <a:pt x="83344" y="13469"/>
                  <a:pt x="83344" y="59531"/>
                </a:cubicBezTo>
                <a:lnTo>
                  <a:pt x="83344" y="95250"/>
                </a:lnTo>
                <a:close/>
                <a:moveTo>
                  <a:pt x="101203" y="130969"/>
                </a:moveTo>
                <a:cubicBezTo>
                  <a:pt x="111060" y="130969"/>
                  <a:pt x="119063" y="138971"/>
                  <a:pt x="119063" y="148828"/>
                </a:cubicBezTo>
                <a:cubicBezTo>
                  <a:pt x="119063" y="158685"/>
                  <a:pt x="111060" y="166688"/>
                  <a:pt x="101203" y="166688"/>
                </a:cubicBezTo>
                <a:cubicBezTo>
                  <a:pt x="91346" y="166688"/>
                  <a:pt x="83344" y="158685"/>
                  <a:pt x="83344" y="148828"/>
                </a:cubicBezTo>
                <a:cubicBezTo>
                  <a:pt x="83344" y="138971"/>
                  <a:pt x="91346" y="130969"/>
                  <a:pt x="101203" y="130969"/>
                </a:cubicBezTo>
                <a:close/>
                <a:moveTo>
                  <a:pt x="214313" y="148828"/>
                </a:moveTo>
                <a:cubicBezTo>
                  <a:pt x="214313" y="138971"/>
                  <a:pt x="222315" y="130969"/>
                  <a:pt x="232172" y="130969"/>
                </a:cubicBezTo>
                <a:cubicBezTo>
                  <a:pt x="242029" y="130969"/>
                  <a:pt x="250031" y="138971"/>
                  <a:pt x="250031" y="148828"/>
                </a:cubicBezTo>
                <a:cubicBezTo>
                  <a:pt x="250031" y="158685"/>
                  <a:pt x="242029" y="166688"/>
                  <a:pt x="232172" y="166688"/>
                </a:cubicBezTo>
                <a:cubicBezTo>
                  <a:pt x="222315" y="166688"/>
                  <a:pt x="214313" y="158685"/>
                  <a:pt x="214313" y="148828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8" name="Text 4"/>
          <p:cNvSpPr/>
          <p:nvPr/>
        </p:nvSpPr>
        <p:spPr>
          <a:xfrm>
            <a:off x="1238070" y="3175000"/>
            <a:ext cx="2971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银泰百货：AI导购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58692" y="3733695"/>
            <a:ext cx="508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通义万相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生成穿搭海报并实时推荐，转化率提升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040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18%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77742" y="4557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1" name="Text 7"/>
          <p:cNvSpPr/>
          <p:nvPr/>
        </p:nvSpPr>
        <p:spPr>
          <a:xfrm>
            <a:off x="850792" y="4546203"/>
            <a:ext cx="4787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向量检索盘活私域数据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77742" y="48115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3" name="Text 9"/>
          <p:cNvSpPr/>
          <p:nvPr/>
        </p:nvSpPr>
        <p:spPr>
          <a:xfrm>
            <a:off x="850792" y="4800023"/>
            <a:ext cx="4787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函数计算承载高并发推理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248255" y="2870312"/>
            <a:ext cx="5689600" cy="2438400"/>
          </a:xfrm>
          <a:custGeom>
            <a:avLst/>
            <a:gdLst/>
            <a:ahLst/>
            <a:cxnLst/>
            <a:rect l="l" t="t" r="r" b="b"/>
            <a:pathLst>
              <a:path w="5689600" h="2438400">
                <a:moveTo>
                  <a:pt x="152400" y="0"/>
                </a:moveTo>
                <a:lnTo>
                  <a:pt x="5537200" y="0"/>
                </a:lnTo>
                <a:cubicBezTo>
                  <a:pt x="5621312" y="0"/>
                  <a:pt x="5689600" y="68288"/>
                  <a:pt x="5689600" y="152400"/>
                </a:cubicBezTo>
                <a:lnTo>
                  <a:pt x="5689600" y="2286000"/>
                </a:lnTo>
                <a:cubicBezTo>
                  <a:pt x="5689600" y="2370112"/>
                  <a:pt x="5621312" y="2438400"/>
                  <a:pt x="5537200" y="2438400"/>
                </a:cubicBezTo>
                <a:lnTo>
                  <a:pt x="152400" y="2438400"/>
                </a:lnTo>
                <a:cubicBezTo>
                  <a:pt x="68288" y="2438400"/>
                  <a:pt x="0" y="2370112"/>
                  <a:pt x="0" y="22860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A8D0F5">
              <a:alpha val="20000"/>
            </a:srgbClr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03747" y="318763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02332" y="15032"/>
                </a:moveTo>
                <a:cubicBezTo>
                  <a:pt x="195039" y="10864"/>
                  <a:pt x="186035" y="10864"/>
                  <a:pt x="178668" y="15032"/>
                </a:cubicBezTo>
                <a:lnTo>
                  <a:pt x="11981" y="110282"/>
                </a:lnTo>
                <a:cubicBezTo>
                  <a:pt x="2604" y="115639"/>
                  <a:pt x="-2009" y="126653"/>
                  <a:pt x="744" y="137071"/>
                </a:cubicBezTo>
                <a:cubicBezTo>
                  <a:pt x="3497" y="147489"/>
                  <a:pt x="13022" y="154781"/>
                  <a:pt x="23812" y="154781"/>
                </a:cubicBezTo>
                <a:lnTo>
                  <a:pt x="47625" y="154781"/>
                </a:lnTo>
                <a:lnTo>
                  <a:pt x="47625" y="309563"/>
                </a:lnTo>
                <a:lnTo>
                  <a:pt x="47625" y="309563"/>
                </a:lnTo>
                <a:lnTo>
                  <a:pt x="9525" y="338137"/>
                </a:lnTo>
                <a:cubicBezTo>
                  <a:pt x="3497" y="342602"/>
                  <a:pt x="0" y="349672"/>
                  <a:pt x="0" y="357188"/>
                </a:cubicBezTo>
                <a:cubicBezTo>
                  <a:pt x="0" y="370359"/>
                  <a:pt x="10641" y="381000"/>
                  <a:pt x="23812" y="381000"/>
                </a:cubicBezTo>
                <a:lnTo>
                  <a:pt x="357188" y="381000"/>
                </a:lnTo>
                <a:cubicBezTo>
                  <a:pt x="370359" y="381000"/>
                  <a:pt x="381000" y="370359"/>
                  <a:pt x="381000" y="357188"/>
                </a:cubicBezTo>
                <a:cubicBezTo>
                  <a:pt x="381000" y="349672"/>
                  <a:pt x="377503" y="342602"/>
                  <a:pt x="371475" y="338137"/>
                </a:cubicBezTo>
                <a:lnTo>
                  <a:pt x="333375" y="309563"/>
                </a:lnTo>
                <a:lnTo>
                  <a:pt x="333375" y="154781"/>
                </a:lnTo>
                <a:lnTo>
                  <a:pt x="357188" y="154781"/>
                </a:lnTo>
                <a:cubicBezTo>
                  <a:pt x="367978" y="154781"/>
                  <a:pt x="377428" y="147489"/>
                  <a:pt x="380181" y="137071"/>
                </a:cubicBezTo>
                <a:cubicBezTo>
                  <a:pt x="382935" y="126653"/>
                  <a:pt x="378321" y="115639"/>
                  <a:pt x="368945" y="110282"/>
                </a:cubicBezTo>
                <a:lnTo>
                  <a:pt x="202257" y="15032"/>
                </a:lnTo>
                <a:close/>
                <a:moveTo>
                  <a:pt x="297656" y="154781"/>
                </a:moveTo>
                <a:lnTo>
                  <a:pt x="297656" y="309563"/>
                </a:lnTo>
                <a:lnTo>
                  <a:pt x="250031" y="309563"/>
                </a:lnTo>
                <a:lnTo>
                  <a:pt x="250031" y="154781"/>
                </a:lnTo>
                <a:lnTo>
                  <a:pt x="297656" y="154781"/>
                </a:lnTo>
                <a:close/>
                <a:moveTo>
                  <a:pt x="214313" y="154781"/>
                </a:moveTo>
                <a:lnTo>
                  <a:pt x="214313" y="309563"/>
                </a:lnTo>
                <a:lnTo>
                  <a:pt x="166688" y="309563"/>
                </a:lnTo>
                <a:lnTo>
                  <a:pt x="166688" y="154781"/>
                </a:lnTo>
                <a:lnTo>
                  <a:pt x="214313" y="154781"/>
                </a:lnTo>
                <a:close/>
                <a:moveTo>
                  <a:pt x="130969" y="154781"/>
                </a:moveTo>
                <a:lnTo>
                  <a:pt x="130969" y="309563"/>
                </a:lnTo>
                <a:lnTo>
                  <a:pt x="83344" y="309563"/>
                </a:lnTo>
                <a:lnTo>
                  <a:pt x="83344" y="154781"/>
                </a:lnTo>
                <a:lnTo>
                  <a:pt x="130969" y="154781"/>
                </a:lnTo>
                <a:close/>
                <a:moveTo>
                  <a:pt x="190500" y="71438"/>
                </a:moveTo>
                <a:cubicBezTo>
                  <a:pt x="203642" y="71438"/>
                  <a:pt x="214313" y="82108"/>
                  <a:pt x="214313" y="95250"/>
                </a:cubicBezTo>
                <a:cubicBezTo>
                  <a:pt x="214313" y="108392"/>
                  <a:pt x="203642" y="119063"/>
                  <a:pt x="190500" y="119063"/>
                </a:cubicBezTo>
                <a:cubicBezTo>
                  <a:pt x="177358" y="119063"/>
                  <a:pt x="166688" y="108392"/>
                  <a:pt x="166688" y="95250"/>
                </a:cubicBezTo>
                <a:cubicBezTo>
                  <a:pt x="166688" y="82108"/>
                  <a:pt x="177358" y="71438"/>
                  <a:pt x="190500" y="71438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6" name="Text 12"/>
          <p:cNvSpPr/>
          <p:nvPr/>
        </p:nvSpPr>
        <p:spPr>
          <a:xfrm>
            <a:off x="7232325" y="3175000"/>
            <a:ext cx="3860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网商银行：智能信贷问答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552947" y="3733695"/>
            <a:ext cx="508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通义千问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实现小微企业信贷问答，人工坐席需求下降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040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40%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571997" y="4557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9" name="Text 15"/>
          <p:cNvSpPr/>
          <p:nvPr/>
        </p:nvSpPr>
        <p:spPr>
          <a:xfrm>
            <a:off x="6845047" y="4546203"/>
            <a:ext cx="4787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低代码平台快速嵌入业务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571997" y="48115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21" name="Text 17"/>
          <p:cNvSpPr/>
          <p:nvPr/>
        </p:nvSpPr>
        <p:spPr>
          <a:xfrm>
            <a:off x="6845047" y="4800023"/>
            <a:ext cx="4787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显著提升服务效率与用户体验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737108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AI原生应用未来趋势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6096000" y="1600491"/>
            <a:ext cx="50800" cy="4521200"/>
          </a:xfrm>
          <a:custGeom>
            <a:avLst/>
            <a:gdLst/>
            <a:ahLst/>
            <a:cxnLst/>
            <a:rect l="l" t="t" r="r" b="b"/>
            <a:pathLst>
              <a:path w="50800" h="4521200">
                <a:moveTo>
                  <a:pt x="25400" y="0"/>
                </a:moveTo>
                <a:lnTo>
                  <a:pt x="25400" y="0"/>
                </a:lnTo>
                <a:cubicBezTo>
                  <a:pt x="39419" y="0"/>
                  <a:pt x="50800" y="11381"/>
                  <a:pt x="50800" y="25400"/>
                </a:cubicBezTo>
                <a:lnTo>
                  <a:pt x="50800" y="4495800"/>
                </a:lnTo>
                <a:cubicBezTo>
                  <a:pt x="50800" y="4509819"/>
                  <a:pt x="39419" y="4521200"/>
                  <a:pt x="25400" y="4521200"/>
                </a:cubicBezTo>
                <a:lnTo>
                  <a:pt x="25400" y="4521200"/>
                </a:lnTo>
                <a:cubicBezTo>
                  <a:pt x="11381" y="4521200"/>
                  <a:pt x="0" y="4509819"/>
                  <a:pt x="0" y="44958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A8D0F5"/>
          </a:solidFill>
          <a:ln/>
        </p:spPr>
      </p:sp>
      <p:sp>
        <p:nvSpPr>
          <p:cNvPr id="6" name="Shape 2"/>
          <p:cNvSpPr/>
          <p:nvPr/>
        </p:nvSpPr>
        <p:spPr>
          <a:xfrm>
            <a:off x="1274510" y="1702054"/>
            <a:ext cx="4076700" cy="1219200"/>
          </a:xfrm>
          <a:custGeom>
            <a:avLst/>
            <a:gdLst/>
            <a:ahLst/>
            <a:cxnLst/>
            <a:rect l="l" t="t" r="r" b="b"/>
            <a:pathLst>
              <a:path w="4076700" h="1219200">
                <a:moveTo>
                  <a:pt x="101596" y="0"/>
                </a:moveTo>
                <a:lnTo>
                  <a:pt x="3975104" y="0"/>
                </a:lnTo>
                <a:cubicBezTo>
                  <a:pt x="4031214" y="0"/>
                  <a:pt x="4076700" y="45486"/>
                  <a:pt x="4076700" y="101596"/>
                </a:cubicBezTo>
                <a:lnTo>
                  <a:pt x="4076700" y="1117604"/>
                </a:lnTo>
                <a:cubicBezTo>
                  <a:pt x="4076700" y="1173714"/>
                  <a:pt x="4031214" y="1219200"/>
                  <a:pt x="39751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969638" y="1905180"/>
            <a:ext cx="417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40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模型与算力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477638" y="2209874"/>
            <a:ext cx="3670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模型规模持续扩大，但训练成本因芯片与算法优化而下降。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864008" y="2057437"/>
            <a:ext cx="482600" cy="508000"/>
          </a:xfrm>
          <a:custGeom>
            <a:avLst/>
            <a:gdLst/>
            <a:ahLst/>
            <a:cxnLst/>
            <a:rect l="l" t="t" r="r" b="b"/>
            <a:pathLst>
              <a:path w="482600" h="508000">
                <a:moveTo>
                  <a:pt x="241300" y="0"/>
                </a:moveTo>
                <a:lnTo>
                  <a:pt x="241300" y="0"/>
                </a:lnTo>
                <a:cubicBezTo>
                  <a:pt x="374477" y="0"/>
                  <a:pt x="482600" y="108123"/>
                  <a:pt x="482600" y="241300"/>
                </a:cubicBezTo>
                <a:lnTo>
                  <a:pt x="482600" y="266700"/>
                </a:lnTo>
                <a:cubicBezTo>
                  <a:pt x="482600" y="399877"/>
                  <a:pt x="374477" y="508000"/>
                  <a:pt x="241300" y="508000"/>
                </a:cubicBezTo>
                <a:lnTo>
                  <a:pt x="241300" y="508000"/>
                </a:lnTo>
                <a:cubicBezTo>
                  <a:pt x="108123" y="508000"/>
                  <a:pt x="0" y="399877"/>
                  <a:pt x="0" y="266700"/>
                </a:cubicBezTo>
                <a:lnTo>
                  <a:pt x="0" y="241300"/>
                </a:lnTo>
                <a:cubicBezTo>
                  <a:pt x="0" y="108123"/>
                  <a:pt x="108123" y="0"/>
                  <a:pt x="241300" y="0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0" name="Shape 6"/>
          <p:cNvSpPr/>
          <p:nvPr/>
        </p:nvSpPr>
        <p:spPr>
          <a:xfrm>
            <a:off x="6005404" y="2209874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47625" y="22225"/>
                </a:moveTo>
                <a:cubicBezTo>
                  <a:pt x="47625" y="9962"/>
                  <a:pt x="57587" y="0"/>
                  <a:pt x="69850" y="0"/>
                </a:cubicBezTo>
                <a:lnTo>
                  <a:pt x="79375" y="0"/>
                </a:lnTo>
                <a:cubicBezTo>
                  <a:pt x="86400" y="0"/>
                  <a:pt x="92075" y="5675"/>
                  <a:pt x="92075" y="12700"/>
                </a:cubicBezTo>
                <a:lnTo>
                  <a:pt x="92075" y="190500"/>
                </a:lnTo>
                <a:cubicBezTo>
                  <a:pt x="92075" y="197525"/>
                  <a:pt x="86400" y="203200"/>
                  <a:pt x="79375" y="203200"/>
                </a:cubicBezTo>
                <a:lnTo>
                  <a:pt x="66675" y="203200"/>
                </a:lnTo>
                <a:cubicBezTo>
                  <a:pt x="54848" y="203200"/>
                  <a:pt x="44887" y="195104"/>
                  <a:pt x="42069" y="184150"/>
                </a:cubicBezTo>
                <a:cubicBezTo>
                  <a:pt x="41791" y="184150"/>
                  <a:pt x="41553" y="184150"/>
                  <a:pt x="41275" y="184150"/>
                </a:cubicBezTo>
                <a:cubicBezTo>
                  <a:pt x="23733" y="184150"/>
                  <a:pt x="9525" y="169942"/>
                  <a:pt x="9525" y="152400"/>
                </a:cubicBezTo>
                <a:cubicBezTo>
                  <a:pt x="9525" y="145256"/>
                  <a:pt x="11906" y="138668"/>
                  <a:pt x="15875" y="133350"/>
                </a:cubicBezTo>
                <a:cubicBezTo>
                  <a:pt x="8176" y="127556"/>
                  <a:pt x="3175" y="118348"/>
                  <a:pt x="3175" y="107950"/>
                </a:cubicBezTo>
                <a:cubicBezTo>
                  <a:pt x="3175" y="95687"/>
                  <a:pt x="10160" y="85011"/>
                  <a:pt x="20320" y="79732"/>
                </a:cubicBezTo>
                <a:cubicBezTo>
                  <a:pt x="17502" y="74970"/>
                  <a:pt x="15875" y="69413"/>
                  <a:pt x="15875" y="63500"/>
                </a:cubicBezTo>
                <a:cubicBezTo>
                  <a:pt x="15875" y="45958"/>
                  <a:pt x="30083" y="31750"/>
                  <a:pt x="47625" y="31750"/>
                </a:cubicBezTo>
                <a:lnTo>
                  <a:pt x="47625" y="22225"/>
                </a:lnTo>
                <a:close/>
                <a:moveTo>
                  <a:pt x="155575" y="22225"/>
                </a:moveTo>
                <a:lnTo>
                  <a:pt x="155575" y="31750"/>
                </a:lnTo>
                <a:cubicBezTo>
                  <a:pt x="173117" y="31750"/>
                  <a:pt x="187325" y="45958"/>
                  <a:pt x="187325" y="63500"/>
                </a:cubicBezTo>
                <a:cubicBezTo>
                  <a:pt x="187325" y="69453"/>
                  <a:pt x="185698" y="75009"/>
                  <a:pt x="182880" y="79732"/>
                </a:cubicBezTo>
                <a:cubicBezTo>
                  <a:pt x="193080" y="85011"/>
                  <a:pt x="200025" y="95647"/>
                  <a:pt x="200025" y="107950"/>
                </a:cubicBezTo>
                <a:cubicBezTo>
                  <a:pt x="200025" y="118348"/>
                  <a:pt x="195024" y="127556"/>
                  <a:pt x="187325" y="133350"/>
                </a:cubicBezTo>
                <a:cubicBezTo>
                  <a:pt x="191294" y="138668"/>
                  <a:pt x="193675" y="145256"/>
                  <a:pt x="193675" y="152400"/>
                </a:cubicBezTo>
                <a:cubicBezTo>
                  <a:pt x="193675" y="169942"/>
                  <a:pt x="179467" y="184150"/>
                  <a:pt x="161925" y="184150"/>
                </a:cubicBezTo>
                <a:cubicBezTo>
                  <a:pt x="161647" y="184150"/>
                  <a:pt x="161409" y="184150"/>
                  <a:pt x="161131" y="184150"/>
                </a:cubicBezTo>
                <a:cubicBezTo>
                  <a:pt x="158313" y="195104"/>
                  <a:pt x="148352" y="203200"/>
                  <a:pt x="136525" y="203200"/>
                </a:cubicBezTo>
                <a:lnTo>
                  <a:pt x="123825" y="203200"/>
                </a:lnTo>
                <a:cubicBezTo>
                  <a:pt x="116800" y="203200"/>
                  <a:pt x="111125" y="197525"/>
                  <a:pt x="111125" y="190500"/>
                </a:cubicBezTo>
                <a:lnTo>
                  <a:pt x="111125" y="12700"/>
                </a:lnTo>
                <a:cubicBezTo>
                  <a:pt x="111125" y="5675"/>
                  <a:pt x="116800" y="0"/>
                  <a:pt x="123825" y="0"/>
                </a:cubicBezTo>
                <a:lnTo>
                  <a:pt x="133350" y="0"/>
                </a:lnTo>
                <a:cubicBezTo>
                  <a:pt x="145613" y="0"/>
                  <a:pt x="155575" y="9962"/>
                  <a:pt x="155575" y="222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5842000" y="3479515"/>
            <a:ext cx="482600" cy="508000"/>
          </a:xfrm>
          <a:custGeom>
            <a:avLst/>
            <a:gdLst/>
            <a:ahLst/>
            <a:cxnLst/>
            <a:rect l="l" t="t" r="r" b="b"/>
            <a:pathLst>
              <a:path w="482600" h="508000">
                <a:moveTo>
                  <a:pt x="241300" y="0"/>
                </a:moveTo>
                <a:lnTo>
                  <a:pt x="241300" y="0"/>
                </a:lnTo>
                <a:cubicBezTo>
                  <a:pt x="374477" y="0"/>
                  <a:pt x="482600" y="108123"/>
                  <a:pt x="482600" y="241300"/>
                </a:cubicBezTo>
                <a:lnTo>
                  <a:pt x="482600" y="266700"/>
                </a:lnTo>
                <a:cubicBezTo>
                  <a:pt x="482600" y="399877"/>
                  <a:pt x="374477" y="508000"/>
                  <a:pt x="241300" y="508000"/>
                </a:cubicBezTo>
                <a:lnTo>
                  <a:pt x="241300" y="508000"/>
                </a:lnTo>
                <a:cubicBezTo>
                  <a:pt x="108123" y="508000"/>
                  <a:pt x="0" y="399877"/>
                  <a:pt x="0" y="266700"/>
                </a:cubicBezTo>
                <a:lnTo>
                  <a:pt x="0" y="241300"/>
                </a:lnTo>
                <a:cubicBezTo>
                  <a:pt x="0" y="108123"/>
                  <a:pt x="108123" y="0"/>
                  <a:pt x="241300" y="0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12" name="Shape 8"/>
          <p:cNvSpPr/>
          <p:nvPr/>
        </p:nvSpPr>
        <p:spPr>
          <a:xfrm>
            <a:off x="5970696" y="3631946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0" y="133350"/>
                </a:moveTo>
                <a:cubicBezTo>
                  <a:pt x="0" y="164902"/>
                  <a:pt x="25598" y="190500"/>
                  <a:pt x="57150" y="190500"/>
                </a:cubicBezTo>
                <a:lnTo>
                  <a:pt x="177800" y="190500"/>
                </a:lnTo>
                <a:cubicBezTo>
                  <a:pt x="205859" y="190500"/>
                  <a:pt x="228600" y="167759"/>
                  <a:pt x="228600" y="139700"/>
                </a:cubicBezTo>
                <a:cubicBezTo>
                  <a:pt x="228600" y="119221"/>
                  <a:pt x="216495" y="101560"/>
                  <a:pt x="199033" y="93543"/>
                </a:cubicBezTo>
                <a:cubicBezTo>
                  <a:pt x="201692" y="88344"/>
                  <a:pt x="203200" y="82431"/>
                  <a:pt x="203200" y="76200"/>
                </a:cubicBezTo>
                <a:cubicBezTo>
                  <a:pt x="203200" y="55166"/>
                  <a:pt x="186134" y="38100"/>
                  <a:pt x="165100" y="38100"/>
                </a:cubicBezTo>
                <a:cubicBezTo>
                  <a:pt x="158075" y="38100"/>
                  <a:pt x="151527" y="40005"/>
                  <a:pt x="145891" y="43299"/>
                </a:cubicBezTo>
                <a:cubicBezTo>
                  <a:pt x="136327" y="25122"/>
                  <a:pt x="117237" y="12700"/>
                  <a:pt x="95250" y="12700"/>
                </a:cubicBezTo>
                <a:cubicBezTo>
                  <a:pt x="63698" y="12700"/>
                  <a:pt x="38100" y="38298"/>
                  <a:pt x="38100" y="69850"/>
                </a:cubicBezTo>
                <a:cubicBezTo>
                  <a:pt x="38100" y="73025"/>
                  <a:pt x="38378" y="76160"/>
                  <a:pt x="38854" y="79177"/>
                </a:cubicBezTo>
                <a:cubicBezTo>
                  <a:pt x="16272" y="86797"/>
                  <a:pt x="0" y="108188"/>
                  <a:pt x="0" y="1333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6835991" y="3124132"/>
            <a:ext cx="4076700" cy="1219200"/>
          </a:xfrm>
          <a:custGeom>
            <a:avLst/>
            <a:gdLst/>
            <a:ahLst/>
            <a:cxnLst/>
            <a:rect l="l" t="t" r="r" b="b"/>
            <a:pathLst>
              <a:path w="4076700" h="1219200">
                <a:moveTo>
                  <a:pt x="101596" y="0"/>
                </a:moveTo>
                <a:lnTo>
                  <a:pt x="3975104" y="0"/>
                </a:lnTo>
                <a:cubicBezTo>
                  <a:pt x="4031214" y="0"/>
                  <a:pt x="4076700" y="45486"/>
                  <a:pt x="4076700" y="101596"/>
                </a:cubicBezTo>
                <a:lnTo>
                  <a:pt x="4076700" y="1117604"/>
                </a:lnTo>
                <a:cubicBezTo>
                  <a:pt x="4076700" y="1173714"/>
                  <a:pt x="4031214" y="1219200"/>
                  <a:pt x="39751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039119" y="3327257"/>
            <a:ext cx="417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40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架构与服务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039119" y="3631946"/>
            <a:ext cx="3670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Serverless与边缘计算结合，使推理无处不在。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1274510" y="4546203"/>
            <a:ext cx="4076700" cy="1473200"/>
          </a:xfrm>
          <a:custGeom>
            <a:avLst/>
            <a:gdLst/>
            <a:ahLst/>
            <a:cxnLst/>
            <a:rect l="l" t="t" r="r" b="b"/>
            <a:pathLst>
              <a:path w="4076700" h="1473200">
                <a:moveTo>
                  <a:pt x="101607" y="0"/>
                </a:moveTo>
                <a:lnTo>
                  <a:pt x="3975093" y="0"/>
                </a:lnTo>
                <a:cubicBezTo>
                  <a:pt x="4031209" y="0"/>
                  <a:pt x="4076700" y="45491"/>
                  <a:pt x="4076700" y="101607"/>
                </a:cubicBezTo>
                <a:lnTo>
                  <a:pt x="4076700" y="1371593"/>
                </a:lnTo>
                <a:cubicBezTo>
                  <a:pt x="4076700" y="1427709"/>
                  <a:pt x="4031209" y="1473200"/>
                  <a:pt x="3975093" y="1473200"/>
                </a:cubicBezTo>
                <a:lnTo>
                  <a:pt x="101607" y="1473200"/>
                </a:lnTo>
                <a:cubicBezTo>
                  <a:pt x="45491" y="1473200"/>
                  <a:pt x="0" y="1427709"/>
                  <a:pt x="0" y="13715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969638" y="4749335"/>
            <a:ext cx="417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40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应用与生态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477638" y="5054023"/>
            <a:ext cx="3670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行业应用从单点功能走向端到端智能体，企业IT架构将演进为模型中心、事件驱动、数据闭环的新范式。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864008" y="5028586"/>
            <a:ext cx="482600" cy="508000"/>
          </a:xfrm>
          <a:custGeom>
            <a:avLst/>
            <a:gdLst/>
            <a:ahLst/>
            <a:cxnLst/>
            <a:rect l="l" t="t" r="r" b="b"/>
            <a:pathLst>
              <a:path w="482600" h="508000">
                <a:moveTo>
                  <a:pt x="241300" y="0"/>
                </a:moveTo>
                <a:lnTo>
                  <a:pt x="241300" y="0"/>
                </a:lnTo>
                <a:cubicBezTo>
                  <a:pt x="374477" y="0"/>
                  <a:pt x="482600" y="108123"/>
                  <a:pt x="482600" y="241300"/>
                </a:cubicBezTo>
                <a:lnTo>
                  <a:pt x="482600" y="266700"/>
                </a:lnTo>
                <a:cubicBezTo>
                  <a:pt x="482600" y="399877"/>
                  <a:pt x="374477" y="508000"/>
                  <a:pt x="241300" y="508000"/>
                </a:cubicBezTo>
                <a:lnTo>
                  <a:pt x="241300" y="508000"/>
                </a:lnTo>
                <a:cubicBezTo>
                  <a:pt x="108123" y="508000"/>
                  <a:pt x="0" y="399877"/>
                  <a:pt x="0" y="266700"/>
                </a:cubicBezTo>
                <a:lnTo>
                  <a:pt x="0" y="241300"/>
                </a:lnTo>
                <a:cubicBezTo>
                  <a:pt x="0" y="108123"/>
                  <a:pt x="108123" y="0"/>
                  <a:pt x="241300" y="0"/>
                </a:cubicBezTo>
                <a:close/>
              </a:path>
            </a:pathLst>
          </a:custGeom>
          <a:solidFill>
            <a:srgbClr val="3A7BD5"/>
          </a:solidFill>
          <a:ln/>
        </p:spPr>
      </p:sp>
      <p:sp>
        <p:nvSpPr>
          <p:cNvPr id="20" name="Shape 16"/>
          <p:cNvSpPr/>
          <p:nvPr/>
        </p:nvSpPr>
        <p:spPr>
          <a:xfrm>
            <a:off x="6005404" y="5181023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0800" y="127000"/>
                </a:moveTo>
                <a:lnTo>
                  <a:pt x="9723" y="127000"/>
                </a:lnTo>
                <a:cubicBezTo>
                  <a:pt x="-159" y="127000"/>
                  <a:pt x="-6231" y="116245"/>
                  <a:pt x="-1151" y="107752"/>
                </a:cubicBezTo>
                <a:lnTo>
                  <a:pt x="19844" y="72747"/>
                </a:lnTo>
                <a:cubicBezTo>
                  <a:pt x="23297" y="66993"/>
                  <a:pt x="29488" y="63500"/>
                  <a:pt x="36195" y="63500"/>
                </a:cubicBezTo>
                <a:lnTo>
                  <a:pt x="73898" y="63500"/>
                </a:lnTo>
                <a:cubicBezTo>
                  <a:pt x="104100" y="12343"/>
                  <a:pt x="149146" y="9763"/>
                  <a:pt x="179268" y="14168"/>
                </a:cubicBezTo>
                <a:cubicBezTo>
                  <a:pt x="184348" y="14923"/>
                  <a:pt x="188317" y="18891"/>
                  <a:pt x="189032" y="23932"/>
                </a:cubicBezTo>
                <a:cubicBezTo>
                  <a:pt x="193437" y="54054"/>
                  <a:pt x="190857" y="99100"/>
                  <a:pt x="139700" y="129302"/>
                </a:cubicBezTo>
                <a:lnTo>
                  <a:pt x="139700" y="167005"/>
                </a:lnTo>
                <a:cubicBezTo>
                  <a:pt x="139700" y="173712"/>
                  <a:pt x="136208" y="179903"/>
                  <a:pt x="130453" y="183356"/>
                </a:cubicBezTo>
                <a:lnTo>
                  <a:pt x="95448" y="204351"/>
                </a:lnTo>
                <a:cubicBezTo>
                  <a:pt x="86995" y="209431"/>
                  <a:pt x="76200" y="203319"/>
                  <a:pt x="76200" y="193477"/>
                </a:cubicBezTo>
                <a:lnTo>
                  <a:pt x="76200" y="152400"/>
                </a:lnTo>
                <a:cubicBezTo>
                  <a:pt x="76200" y="138390"/>
                  <a:pt x="64810" y="127000"/>
                  <a:pt x="50800" y="127000"/>
                </a:cubicBezTo>
                <a:lnTo>
                  <a:pt x="50760" y="127000"/>
                </a:lnTo>
                <a:close/>
                <a:moveTo>
                  <a:pt x="158750" y="63500"/>
                </a:moveTo>
                <a:cubicBezTo>
                  <a:pt x="158750" y="52986"/>
                  <a:pt x="150214" y="44450"/>
                  <a:pt x="139700" y="44450"/>
                </a:cubicBezTo>
                <a:cubicBezTo>
                  <a:pt x="129186" y="44450"/>
                  <a:pt x="120650" y="52986"/>
                  <a:pt x="120650" y="63500"/>
                </a:cubicBezTo>
                <a:cubicBezTo>
                  <a:pt x="120650" y="74014"/>
                  <a:pt x="129186" y="82550"/>
                  <a:pt x="139700" y="82550"/>
                </a:cubicBezTo>
                <a:cubicBezTo>
                  <a:pt x="150214" y="82550"/>
                  <a:pt x="158750" y="74014"/>
                  <a:pt x="158750" y="63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s0.jpg">    </p:cNvPr>
          <p:cNvPicPr>
            <a:picLocks noChangeAspect="1"/>
          </p:cNvPicPr>
          <p:nvPr/>
        </p:nvPicPr>
        <p:blipFill>
          <a:blip r:embed="rId1"/>
          <a:srcRect l="6625" r="11055" t="8858" b="15857"/>
          <a:stretch/>
        </p:blipFill>
        <p:spPr>
          <a:xfrm rot="21600000">
            <a:off x="-2159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410" y="2195830"/>
            <a:ext cx="7026275" cy="134957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8800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0890" y="3501390"/>
            <a:ext cx="4716780" cy="36591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 FOR WATCHING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90" y="1730375"/>
            <a:ext cx="6468110" cy="2984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63600" y="4795520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  <a:ln/>
        </p:spPr>
      </p:sp>
      <p:sp>
        <p:nvSpPr>
          <p:cNvPr id="7" name="Text 3"/>
          <p:cNvSpPr/>
          <p:nvPr/>
        </p:nvSpPr>
        <p:spPr>
          <a:xfrm>
            <a:off x="863600" y="4795520"/>
            <a:ext cx="217932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28675" y="4847590"/>
            <a:ext cx="2249805" cy="3030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</a:t>
            </a:r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:Kimi AI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519170" y="4795520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  <a:ln/>
        </p:spPr>
      </p:sp>
      <p:sp>
        <p:nvSpPr>
          <p:cNvPr id="10" name="Text 6"/>
          <p:cNvSpPr/>
          <p:nvPr/>
        </p:nvSpPr>
        <p:spPr>
          <a:xfrm>
            <a:off x="3519170" y="4795520"/>
            <a:ext cx="217932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84245" y="4847590"/>
            <a:ext cx="2249805" cy="3030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</a:t>
            </a:r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:2025/01/01</a:t>
            </a:r>
            <a:endParaRPr lang="en-US" sz="1600" dirty="0"/>
          </a:p>
        </p:txBody>
      </p:sp>
      <p:pic>
        <p:nvPicPr>
          <p:cNvPr id="12" name="Image 2" descr="https://kimi-img.moonshot.cn/pub/slides/slides_tmpl/image/25-09-08-12:55:57-d2v63ndnfo2stf9dk540.png">    </p:cNvPr>
          <p:cNvPicPr>
            <a:picLocks noChangeAspect="1"/>
          </p:cNvPicPr>
          <p:nvPr/>
        </p:nvPicPr>
        <p:blipFill>
          <a:blip r:embed="rId3"/>
          <a:srcRect l="0" r="0" t="22162" b="0"/>
          <a:stretch/>
        </p:blipFill>
        <p:spPr>
          <a:xfrm>
            <a:off x="7364095" y="1974850"/>
            <a:ext cx="4268470" cy="332359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阿里云AI原生应用架构全解析</dc:title>
  <dc:subject>阿里云AI原生应用架构全解析</dc:subject>
  <dc:creator>Kimi</dc:creator>
  <cp:lastModifiedBy>Kimi</cp:lastModifiedBy>
  <cp:revision>1</cp:revision>
  <dcterms:created xsi:type="dcterms:W3CDTF">2025-10-22T02:03:56Z</dcterms:created>
  <dcterms:modified xsi:type="dcterms:W3CDTF">2025-10-22T02:03:56Z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{"Label":"阿里云AI原生应用架构全解析","ContentProducer":"001191110108MACG2KBH8F10000","ProduceID":"d3s3cmm4bbjna2sk1on0","ReservedCode1":"","ContentPropagator":"001191110108MACG2KBH8F20000","PropagateID":"d3s3cmm4bbjna2sk1on0","ReservedCode2":""}</vt:lpwstr>
  </property>
</Properties>
</file>